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tags/tag1.xml" ContentType="application/vnd.openxmlformats-officedocument.presentationml.tags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3" r:id="rId2"/>
    <p:sldId id="289" r:id="rId3"/>
    <p:sldId id="288" r:id="rId4"/>
    <p:sldId id="290" r:id="rId5"/>
    <p:sldId id="291" r:id="rId6"/>
    <p:sldId id="292" r:id="rId7"/>
    <p:sldId id="294" r:id="rId8"/>
    <p:sldId id="295" r:id="rId9"/>
    <p:sldId id="297" r:id="rId10"/>
    <p:sldId id="299" r:id="rId11"/>
    <p:sldId id="298" r:id="rId12"/>
    <p:sldId id="296" r:id="rId13"/>
    <p:sldId id="279" r:id="rId1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A2D9"/>
    <a:srgbClr val="FFFFFF"/>
    <a:srgbClr val="FFDD9B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32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6-17T23:05:55.66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18115 14566 0,'-34'0'26,"34"35"-20,0 0 57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6-17T23:05:33.33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30956 1166 0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DC5C91C-24B2-48AF-94D1-CCBB76AF1A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5C495B6-8FFE-4C0C-AA5F-63AD73D4B8A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ED8A9-5D80-4EEB-B1ED-D2342DF2BAEC}" type="datetimeFigureOut">
              <a:rPr lang="es-ES" smtClean="0"/>
              <a:t>15/07/2025</a:t>
            </a:fld>
            <a:endParaRPr lang="es-ES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4C7B865A-841B-473C-B77A-D3F17BE337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79EDA97A-5C1B-4CA0-AB34-9F17C12E84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B65BDD-68B9-427A-B1BD-0820CEAB4E3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144E47-76DF-4FC0-A293-25F0072BE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1AC1FC-E57B-49D5-BBAE-E191EB1A7834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FB1666-4800-4C6E-90B6-71912C07B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EC6592-0EC0-4C64-9B37-F6B5F517A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46B59F-48D1-4705-AB5C-E15D077F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2DE32-AA28-4BAC-A9DB-23B5490A2103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AE8F1E-FED2-4DEA-8376-3A948AE4A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775470-C349-4DE4-8A4A-00205942E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31FA-D98E-4ED0-A70D-A89B876D056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79142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DA0EE-9412-4F0E-8198-2D7349D9E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CC6521-8EA8-4E75-85DB-66FB5FA33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A66D56-951D-43AF-A105-A670BFCF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2DE32-AA28-4BAC-A9DB-23B5490A2103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6D16A-F83A-455D-BC0A-6AAD023CE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8E2383-0899-40CA-A98E-5B6983902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31FA-D98E-4ED0-A70D-A89B876D056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57767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09E1C-998B-4D7D-834C-75D71D178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82F507-DD83-4631-B778-77A166271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CC3505-2760-4E91-887E-7D3DF0540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2DE32-AA28-4BAC-A9DB-23B5490A2103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2ECEF5-DA11-44FE-8012-8412C43EF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6EE759-45E8-407A-8F6C-795173BA3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31FA-D98E-4ED0-A70D-A89B876D056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04465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40047B-FBDE-46D8-A1AA-1A3D654AB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4742F2-5DE5-4C58-8208-EA6D33C26C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71FFF3-052F-41B9-86AA-514E1B148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533F23-282E-4574-950C-1F03101A6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2DE32-AA28-4BAC-A9DB-23B5490A2103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4CC9239-101D-44DA-B1EE-733309E4F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2B2A18-7FDD-4E0E-8676-6CB98B53D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31FA-D98E-4ED0-A70D-A89B876D056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94580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32D54-0B06-45FB-A6B9-0D24381C5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21818D-7605-41C0-B286-D73822C43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0CE51B-FB22-49D8-8A59-BC8BE91EEC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EF46264-0149-40E6-B0C8-F785E05DEC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D3DB36D-5D91-4CB7-B52A-29414B501E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39EB4D3-C02F-4B96-BC49-1ED62D091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2DE32-AA28-4BAC-A9DB-23B5490A2103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D622DC2-22D2-4352-A5CB-BA8F5AD34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972F843-6139-48AF-A62B-15A161D5F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31FA-D98E-4ED0-A70D-A89B876D056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2391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367CFC-D8B9-4C08-8556-AABE15005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1EAB90E-8898-4B96-99C1-BF11767EF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2DE32-AA28-4BAC-A9DB-23B5490A2103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D3F473-17A5-4B54-A3AE-22512429C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F9BD9E6-EC5A-4F9B-868D-69FB51E56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31FA-D98E-4ED0-A70D-A89B876D056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60612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A344744-9863-41F6-A5FE-DB237CF85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2DE32-AA28-4BAC-A9DB-23B5490A2103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305D938-BB8F-485F-9058-A07A70C09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8E45D5-2171-4EA4-86F1-824CA774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31FA-D98E-4ED0-A70D-A89B876D056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09794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6A33B-4AF7-4979-91C1-ED494F483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5ABDEF-9182-432F-B53C-E9545369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791DAF-AC0F-457E-94B4-63A609821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017366-A1F9-4FBE-A56C-0F29F445C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2DE32-AA28-4BAC-A9DB-23B5490A2103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2AC7A8-4BCD-4129-BE35-3F4325EC9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AFC655-49AE-4DDA-9342-8CC4498D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31FA-D98E-4ED0-A70D-A89B876D056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88878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32E6A8-21CB-47F9-AE9D-A92BA3715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400FEAD-36FA-4E66-A6CC-7B157B60BD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502E87-9E82-449B-8B79-873FBDA5B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CA46B0-AD4D-4136-A550-5CDEC61F6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2DE32-AA28-4BAC-A9DB-23B5490A2103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ED8F71-72AB-453B-94FB-5C99EDBB8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A01D22-4E84-45C9-8858-EE109FD24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31FA-D98E-4ED0-A70D-A89B876D056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7360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8BDC42-F894-4032-ACB7-473018644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8870FA-0C80-4DC8-9775-738B6C903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CEC2D-F584-4EE7-A353-53D1B2C34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2DE32-AA28-4BAC-A9DB-23B5490A2103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E1C147-41E6-44E9-87F5-A3D201DF9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E36510-8964-4392-9720-1EBE168E6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31FA-D98E-4ED0-A70D-A89B876D056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87547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F56781-B235-4723-87EA-AADA885DC1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DC7FC0-5EF7-4AF6-85CA-35DC507AA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F5EAE0-3B50-4543-9F11-9D5D62E7E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2DE32-AA28-4BAC-A9DB-23B5490A2103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A66F2C-BC9D-4E7B-8E69-FED158DE6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400E60-2378-48E5-97C7-54ECB8A2C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31FA-D98E-4ED0-A70D-A89B876D056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90643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98E553E-AB15-41B7-987E-A947017B5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CA0984-82A3-4D1B-BA7A-6F6E4E58A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28BC1A-8DE1-4465-960F-3D4D533909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2DE32-AA28-4BAC-A9DB-23B5490A2103}" type="datetimeFigureOut">
              <a:rPr lang="es-PE" smtClean="0"/>
              <a:t>15/07/2025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F5CA40-950D-4EFA-B53B-6526FB8A6B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4CE397-1109-41B4-8777-801CBE436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131FA-D98E-4ED0-A70D-A89B876D056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5299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ustomXml" Target="../ink/ink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10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doi.org/10.3390/metabo11060398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21.jpeg"/><Relationship Id="rId7" Type="http://schemas.openxmlformats.org/officeDocument/2006/relationships/image" Target="../media/image3.jpeg"/><Relationship Id="rId12" Type="http://schemas.openxmlformats.org/officeDocument/2006/relationships/image" Target="../media/image24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4.jpe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F107D8C-00FC-75C9-522D-2D3C9CDBD0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6966"/>
            <a:ext cx="12204357" cy="2854673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645553E1-30F3-EF6D-2129-35B0D4B95C58}"/>
              </a:ext>
            </a:extLst>
          </p:cNvPr>
          <p:cNvSpPr txBox="1">
            <a:spLocks/>
          </p:cNvSpPr>
          <p:nvPr/>
        </p:nvSpPr>
        <p:spPr>
          <a:xfrm>
            <a:off x="648552" y="2670327"/>
            <a:ext cx="11139794" cy="10228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PE" sz="36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orgia" panose="02040502050405020303" pitchFamily="18" charset="0"/>
            </a:endParaRPr>
          </a:p>
        </p:txBody>
      </p:sp>
      <p:pic>
        <p:nvPicPr>
          <p:cNvPr id="4" name="Picture 2" descr="Logotipo - UNTRM">
            <a:extLst>
              <a:ext uri="{FF2B5EF4-FFF2-40B4-BE49-F238E27FC236}">
                <a16:creationId xmlns:a16="http://schemas.microsoft.com/office/drawing/2014/main" id="{337FACEE-9E5A-3BF7-0505-A295A8628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007" y="51651"/>
            <a:ext cx="5792316" cy="170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9B78E593-EFBA-4656-94DD-0C4C54C81153}"/>
              </a:ext>
            </a:extLst>
          </p:cNvPr>
          <p:cNvSpPr txBox="1">
            <a:spLocks/>
          </p:cNvSpPr>
          <p:nvPr/>
        </p:nvSpPr>
        <p:spPr>
          <a:xfrm>
            <a:off x="6477240" y="3977226"/>
            <a:ext cx="5582237" cy="5595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b="1" dirty="0">
                <a:solidFill>
                  <a:schemeClr val="bg1"/>
                </a:solidFill>
                <a:latin typeface="Georgia" panose="02040502050405020303" pitchFamily="18" charset="0"/>
                <a:cs typeface="Segoe UI" panose="020B0502040204020203" pitchFamily="34" charset="0"/>
              </a:rPr>
              <a:t>Docente: FLAVIO LOZANO ISLA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11788346" y="6501808"/>
            <a:ext cx="3710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solidFill>
                  <a:schemeClr val="bg1"/>
                </a:solidFill>
                <a:latin typeface="Georgia" panose="02040502050405020303" pitchFamily="18" charset="0"/>
              </a:rPr>
              <a:t>1</a:t>
            </a:r>
            <a:endParaRPr lang="es-PE" sz="1600" b="1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pic>
        <p:nvPicPr>
          <p:cNvPr id="16" name="Imagen 15" descr="Escuela Profesional de Ingeniería Agrónoma - UNTRM - YouTube"/>
          <p:cNvPicPr/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4417" y="74669"/>
            <a:ext cx="1623929" cy="1615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No hay ninguna descripción de la foto disponible.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64" t="2287" r="16126" b="39775"/>
          <a:stretch/>
        </p:blipFill>
        <p:spPr bwMode="auto">
          <a:xfrm>
            <a:off x="469598" y="39440"/>
            <a:ext cx="2048315" cy="1729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ángulo 16"/>
          <p:cNvSpPr/>
          <p:nvPr/>
        </p:nvSpPr>
        <p:spPr>
          <a:xfrm>
            <a:off x="0" y="4827561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1600" dirty="0">
                <a:latin typeface="Georgia" panose="02040502050405020303" pitchFamily="18" charset="0"/>
              </a:rPr>
              <a:t>Ingeniería Agrónoma, Facultad de Ingeniería y Ciencias Agrarias, Universidad Nacional Toribio Rodríguez de Mendoza De Amazonas (UNTRM), Perú.</a:t>
            </a:r>
          </a:p>
        </p:txBody>
      </p:sp>
      <p:grpSp>
        <p:nvGrpSpPr>
          <p:cNvPr id="18" name="Grupo 17"/>
          <p:cNvGrpSpPr/>
          <p:nvPr/>
        </p:nvGrpSpPr>
        <p:grpSpPr>
          <a:xfrm>
            <a:off x="0" y="6425184"/>
            <a:ext cx="12192000" cy="432816"/>
            <a:chOff x="0" y="6425184"/>
            <a:chExt cx="12192000" cy="432816"/>
          </a:xfrm>
        </p:grpSpPr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997518A5-3297-4B80-A555-4C1C69FA9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6425184"/>
              <a:ext cx="12192000" cy="432816"/>
            </a:xfrm>
            <a:prstGeom prst="rect">
              <a:avLst/>
            </a:prstGeom>
          </p:spPr>
        </p:pic>
        <p:sp>
          <p:nvSpPr>
            <p:cNvPr id="20" name="CuadroTexto 19"/>
            <p:cNvSpPr txBox="1"/>
            <p:nvPr/>
          </p:nvSpPr>
          <p:spPr>
            <a:xfrm>
              <a:off x="11688417" y="6472315"/>
              <a:ext cx="3710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1</a:t>
              </a:r>
              <a:endParaRPr lang="es-PE" sz="1600" b="1" dirty="0">
                <a:solidFill>
                  <a:schemeClr val="bg1"/>
                </a:solidFill>
                <a:latin typeface="Georgia" panose="02040502050405020303" pitchFamily="18" charset="0"/>
              </a:endParaRPr>
            </a:p>
          </p:txBody>
        </p:sp>
      </p:grpSp>
      <p:sp>
        <p:nvSpPr>
          <p:cNvPr id="21" name="Rectángulo 20"/>
          <p:cNvSpPr/>
          <p:nvPr/>
        </p:nvSpPr>
        <p:spPr>
          <a:xfrm>
            <a:off x="1898614" y="2587971"/>
            <a:ext cx="915725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s-PE" sz="2800" b="1" dirty="0">
                <a:solidFill>
                  <a:schemeClr val="bg1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VARIABILIDAD MORFOLÓGICA, FISIOLÓGICA, NUTRICIONAL Y MOLECULAR EN 10 ACCESIONES DE OCA (</a:t>
            </a:r>
            <a:r>
              <a:rPr lang="es-PE" sz="2800" b="1" i="1" dirty="0" err="1">
                <a:solidFill>
                  <a:schemeClr val="bg1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Oxalis</a:t>
            </a:r>
            <a:r>
              <a:rPr lang="es-PE" sz="2800" b="1" i="1" dirty="0">
                <a:solidFill>
                  <a:schemeClr val="bg1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tuberosa </a:t>
            </a:r>
            <a:r>
              <a:rPr lang="es-PE" sz="2800" b="1" dirty="0">
                <a:solidFill>
                  <a:schemeClr val="bg1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Mol</a:t>
            </a:r>
            <a:r>
              <a:rPr lang="es-PE" sz="2800" b="1" i="1" dirty="0">
                <a:solidFill>
                  <a:schemeClr val="bg1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s-PE" sz="2800" b="1" dirty="0">
                <a:solidFill>
                  <a:schemeClr val="bg1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s-PE" sz="2800" dirty="0">
              <a:solidFill>
                <a:schemeClr val="bg1"/>
              </a:solidFill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5B0EBCF-AEA7-4F2E-9D6A-D0E7BD6B5279}"/>
              </a:ext>
            </a:extLst>
          </p:cNvPr>
          <p:cNvSpPr txBox="1"/>
          <p:nvPr/>
        </p:nvSpPr>
        <p:spPr>
          <a:xfrm>
            <a:off x="0" y="5578257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latin typeface="Georgia" panose="02040502050405020303" pitchFamily="18" charset="0"/>
              </a:rPr>
              <a:t>Autores de correspondencia: Erika Llaja Zuta</a:t>
            </a:r>
            <a:endParaRPr lang="es-ES" sz="1600" dirty="0">
              <a:latin typeface="Georgia" panose="02040502050405020303" pitchFamily="18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1178884" y="6517201"/>
            <a:ext cx="898553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050" b="1" dirty="0">
                <a:solidFill>
                  <a:schemeClr val="bg1"/>
                </a:solidFill>
                <a:latin typeface="Georgia" panose="02040502050405020303" pitchFamily="18" charset="0"/>
              </a:rPr>
              <a:t>TÉSIS I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DC9048B5-73F8-43EB-A81C-3DC6BBEE319E}"/>
                  </a:ext>
                </a:extLst>
              </p14:cNvPr>
              <p14:cNvContentPartPr/>
              <p14:nvPr/>
            </p14:nvContentPartPr>
            <p14:xfrm>
              <a:off x="6509160" y="5243760"/>
              <a:ext cx="12600" cy="2556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DC9048B5-73F8-43EB-A81C-3DC6BBEE319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99800" y="5234400"/>
                <a:ext cx="31320" cy="4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678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67"/>
    </mc:Choice>
    <mc:Fallback xmlns="">
      <p:transition spd="slow" advTm="2226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n 28">
            <a:extLst>
              <a:ext uri="{FF2B5EF4-FFF2-40B4-BE49-F238E27FC236}">
                <a16:creationId xmlns:a16="http://schemas.microsoft.com/office/drawing/2014/main" id="{9E4807FD-2BD5-447F-A78E-1B5411056A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028" t="4240" r="2965" b="8170"/>
          <a:stretch/>
        </p:blipFill>
        <p:spPr>
          <a:xfrm rot="5400000">
            <a:off x="7425924" y="2413563"/>
            <a:ext cx="3386120" cy="4545106"/>
          </a:xfrm>
          <a:prstGeom prst="rect">
            <a:avLst/>
          </a:prstGeom>
        </p:spPr>
      </p:pic>
      <p:grpSp>
        <p:nvGrpSpPr>
          <p:cNvPr id="7" name="Grupo 6"/>
          <p:cNvGrpSpPr/>
          <p:nvPr/>
        </p:nvGrpSpPr>
        <p:grpSpPr>
          <a:xfrm>
            <a:off x="0" y="6425184"/>
            <a:ext cx="12192000" cy="432816"/>
            <a:chOff x="0" y="6425184"/>
            <a:chExt cx="12192000" cy="432816"/>
          </a:xfrm>
        </p:grpSpPr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997518A5-3297-4B80-A555-4C1C69FA9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6425184"/>
              <a:ext cx="12192000" cy="432816"/>
            </a:xfrm>
            <a:prstGeom prst="rect">
              <a:avLst/>
            </a:prstGeom>
          </p:spPr>
        </p:pic>
        <p:sp>
          <p:nvSpPr>
            <p:cNvPr id="6" name="CuadroTexto 5"/>
            <p:cNvSpPr txBox="1"/>
            <p:nvPr/>
          </p:nvSpPr>
          <p:spPr>
            <a:xfrm>
              <a:off x="11688416" y="6472315"/>
              <a:ext cx="5035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2</a:t>
              </a:r>
              <a:endParaRPr lang="es-PE" sz="1600" b="1" dirty="0">
                <a:solidFill>
                  <a:schemeClr val="bg1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12B2402C-D3B2-4CBD-914A-CA5A3E72AB91}"/>
              </a:ext>
            </a:extLst>
          </p:cNvPr>
          <p:cNvGrpSpPr/>
          <p:nvPr/>
        </p:nvGrpSpPr>
        <p:grpSpPr>
          <a:xfrm>
            <a:off x="761411" y="365581"/>
            <a:ext cx="8251873" cy="2689412"/>
            <a:chOff x="1178884" y="1091722"/>
            <a:chExt cx="8251873" cy="2689412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8A9A50A1-AB3E-4D4F-9852-6E6BB15C5F92}"/>
                </a:ext>
              </a:extLst>
            </p:cNvPr>
            <p:cNvGrpSpPr/>
            <p:nvPr/>
          </p:nvGrpSpPr>
          <p:grpSpPr>
            <a:xfrm>
              <a:off x="1178884" y="1091722"/>
              <a:ext cx="8248516" cy="2689412"/>
              <a:chOff x="4300150" y="1169958"/>
              <a:chExt cx="4386641" cy="1504283"/>
            </a:xfrm>
          </p:grpSpPr>
          <p:grpSp>
            <p:nvGrpSpPr>
              <p:cNvPr id="9" name="Google Shape;290;p21">
                <a:extLst>
                  <a:ext uri="{FF2B5EF4-FFF2-40B4-BE49-F238E27FC236}">
                    <a16:creationId xmlns:a16="http://schemas.microsoft.com/office/drawing/2014/main" id="{2DA96296-0AB9-4E60-920E-AA44CC7811C6}"/>
                  </a:ext>
                </a:extLst>
              </p:cNvPr>
              <p:cNvGrpSpPr/>
              <p:nvPr/>
            </p:nvGrpSpPr>
            <p:grpSpPr>
              <a:xfrm>
                <a:off x="4300150" y="1169958"/>
                <a:ext cx="4386641" cy="675917"/>
                <a:chOff x="4300150" y="1169958"/>
                <a:chExt cx="4386641" cy="675917"/>
              </a:xfrm>
            </p:grpSpPr>
            <p:sp>
              <p:nvSpPr>
                <p:cNvPr id="14" name="Google Shape;291;p21">
                  <a:extLst>
                    <a:ext uri="{FF2B5EF4-FFF2-40B4-BE49-F238E27FC236}">
                      <a16:creationId xmlns:a16="http://schemas.microsoft.com/office/drawing/2014/main" id="{15053A04-CA7E-4D80-A264-447FF2A04006}"/>
                    </a:ext>
                  </a:extLst>
                </p:cNvPr>
                <p:cNvSpPr txBox="1"/>
                <p:nvPr/>
              </p:nvSpPr>
              <p:spPr>
                <a:xfrm>
                  <a:off x="4300150" y="1314100"/>
                  <a:ext cx="1990800" cy="387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18287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endParaRPr sz="1200" dirty="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15" name="Google Shape;292;p21">
                  <a:extLst>
                    <a:ext uri="{FF2B5EF4-FFF2-40B4-BE49-F238E27FC236}">
                      <a16:creationId xmlns:a16="http://schemas.microsoft.com/office/drawing/2014/main" id="{50633D1A-515B-4783-A597-95EF43C028F3}"/>
                    </a:ext>
                  </a:extLst>
                </p:cNvPr>
                <p:cNvSpPr txBox="1"/>
                <p:nvPr/>
              </p:nvSpPr>
              <p:spPr>
                <a:xfrm>
                  <a:off x="5889620" y="1169975"/>
                  <a:ext cx="2707200" cy="675900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txBody>
                <a:bodyPr spcFirstLastPara="1" wrap="square" lIns="91425" tIns="91425" rIns="182875" bIns="91425" anchor="ctr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 dirty="0"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16" name="Google Shape;293;p21">
                  <a:extLst>
                    <a:ext uri="{FF2B5EF4-FFF2-40B4-BE49-F238E27FC236}">
                      <a16:creationId xmlns:a16="http://schemas.microsoft.com/office/drawing/2014/main" id="{4092BFFE-6652-428A-9D3B-2692802D1ABC}"/>
                    </a:ext>
                  </a:extLst>
                </p:cNvPr>
                <p:cNvSpPr/>
                <p:nvPr/>
              </p:nvSpPr>
              <p:spPr>
                <a:xfrm>
                  <a:off x="8596791" y="1169958"/>
                  <a:ext cx="90000" cy="6759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" name="Google Shape;294;p21">
                <a:extLst>
                  <a:ext uri="{FF2B5EF4-FFF2-40B4-BE49-F238E27FC236}">
                    <a16:creationId xmlns:a16="http://schemas.microsoft.com/office/drawing/2014/main" id="{7D591D08-D2D3-4977-AF12-5207DBCC35A5}"/>
                  </a:ext>
                </a:extLst>
              </p:cNvPr>
              <p:cNvGrpSpPr/>
              <p:nvPr/>
            </p:nvGrpSpPr>
            <p:grpSpPr>
              <a:xfrm>
                <a:off x="4300150" y="1998334"/>
                <a:ext cx="4386641" cy="675907"/>
                <a:chOff x="4300150" y="1998334"/>
                <a:chExt cx="4386641" cy="675907"/>
              </a:xfrm>
            </p:grpSpPr>
            <p:sp>
              <p:nvSpPr>
                <p:cNvPr id="11" name="Google Shape;295;p21">
                  <a:extLst>
                    <a:ext uri="{FF2B5EF4-FFF2-40B4-BE49-F238E27FC236}">
                      <a16:creationId xmlns:a16="http://schemas.microsoft.com/office/drawing/2014/main" id="{08D051F9-F0DC-442C-AC8F-793C72C2CA61}"/>
                    </a:ext>
                  </a:extLst>
                </p:cNvPr>
                <p:cNvSpPr txBox="1"/>
                <p:nvPr/>
              </p:nvSpPr>
              <p:spPr>
                <a:xfrm>
                  <a:off x="4300150" y="2142488"/>
                  <a:ext cx="1990800" cy="387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18287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 dirty="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12" name="Google Shape;296;p21">
                  <a:extLst>
                    <a:ext uri="{FF2B5EF4-FFF2-40B4-BE49-F238E27FC236}">
                      <a16:creationId xmlns:a16="http://schemas.microsoft.com/office/drawing/2014/main" id="{71C3D5A8-FD7C-4453-890E-D56C126F5ED5}"/>
                    </a:ext>
                  </a:extLst>
                </p:cNvPr>
                <p:cNvSpPr txBox="1"/>
                <p:nvPr/>
              </p:nvSpPr>
              <p:spPr>
                <a:xfrm>
                  <a:off x="5889525" y="1998340"/>
                  <a:ext cx="2707200" cy="675900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txBody>
                <a:bodyPr spcFirstLastPara="1" wrap="square" lIns="91425" tIns="91425" rIns="182875" bIns="91425" anchor="ctr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 dirty="0"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13" name="Google Shape;297;p21">
                  <a:extLst>
                    <a:ext uri="{FF2B5EF4-FFF2-40B4-BE49-F238E27FC236}">
                      <a16:creationId xmlns:a16="http://schemas.microsoft.com/office/drawing/2014/main" id="{B6DCAD18-834E-4110-92D9-168DC5D7205D}"/>
                    </a:ext>
                  </a:extLst>
                </p:cNvPr>
                <p:cNvSpPr/>
                <p:nvPr/>
              </p:nvSpPr>
              <p:spPr>
                <a:xfrm>
                  <a:off x="8596791" y="1998334"/>
                  <a:ext cx="90000" cy="6759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105755AC-536E-4D26-BE14-3B1B3B7C0C97}"/>
                </a:ext>
              </a:extLst>
            </p:cNvPr>
            <p:cNvSpPr txBox="1"/>
            <p:nvPr/>
          </p:nvSpPr>
          <p:spPr>
            <a:xfrm>
              <a:off x="1760540" y="1386743"/>
              <a:ext cx="1471779" cy="457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just">
                <a:lnSpc>
                  <a:spcPct val="150000"/>
                </a:lnSpc>
                <a:spcAft>
                  <a:spcPts val="800"/>
                </a:spcAft>
              </a:pPr>
              <a:r>
                <a:rPr lang="es-PE" sz="1800" b="1" dirty="0">
                  <a:solidFill>
                    <a:schemeClr val="bg1"/>
                  </a:solidFill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1. TÍTULO</a:t>
              </a:r>
              <a:endParaRPr lang="es-PE" sz="1600" dirty="0">
                <a:solidFill>
                  <a:schemeClr val="bg1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4EC50B8C-EC99-4549-861B-6EE96BF58C77}"/>
                </a:ext>
              </a:extLst>
            </p:cNvPr>
            <p:cNvSpPr txBox="1"/>
            <p:nvPr/>
          </p:nvSpPr>
          <p:spPr>
            <a:xfrm>
              <a:off x="4112879" y="1295501"/>
              <a:ext cx="509054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28600" algn="just">
                <a:spcAft>
                  <a:spcPts val="800"/>
                </a:spcAft>
              </a:pPr>
              <a:r>
                <a:rPr lang="es-PE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Variabilidad morfológica, fisiológica, nutricional y molecular en 10 accesiones de oca (</a:t>
              </a:r>
              <a:r>
                <a:rPr lang="es-PE" sz="1800" i="1" dirty="0" err="1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Oxalis</a:t>
              </a:r>
              <a:r>
                <a:rPr lang="es-PE" sz="1800" i="1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tuberosa </a:t>
              </a:r>
              <a:r>
                <a:rPr lang="es-PE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Mol</a:t>
              </a:r>
              <a:r>
                <a:rPr lang="es-PE" sz="1800" i="1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.</a:t>
              </a:r>
              <a:r>
                <a:rPr lang="es-PE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). </a:t>
              </a:r>
              <a:endPara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E1AB02BB-B27A-4BB3-9B14-B513535ED605}"/>
                </a:ext>
              </a:extLst>
            </p:cNvPr>
            <p:cNvSpPr txBox="1"/>
            <p:nvPr/>
          </p:nvSpPr>
          <p:spPr>
            <a:xfrm>
              <a:off x="1351793" y="2830447"/>
              <a:ext cx="264279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spcAft>
                  <a:spcPts val="800"/>
                </a:spcAft>
              </a:pPr>
              <a:r>
                <a:rPr lang="es-PE" sz="1800" b="1" dirty="0">
                  <a:solidFill>
                    <a:schemeClr val="bg1"/>
                  </a:solidFill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2. PROBLEMA DE LA INVESTIGACIÓN </a:t>
              </a:r>
              <a:endParaRPr lang="es-PE" sz="1600" b="1" dirty="0">
                <a:solidFill>
                  <a:schemeClr val="bg1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C71D57E9-7156-4B1B-8D99-8AE86B9F8606}"/>
                </a:ext>
              </a:extLst>
            </p:cNvPr>
            <p:cNvSpPr txBox="1"/>
            <p:nvPr/>
          </p:nvSpPr>
          <p:spPr>
            <a:xfrm>
              <a:off x="3994784" y="2693520"/>
              <a:ext cx="5435973" cy="9668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28600">
                <a:lnSpc>
                  <a:spcPct val="107000"/>
                </a:lnSpc>
                <a:spcAft>
                  <a:spcPts val="800"/>
                </a:spcAft>
              </a:pPr>
              <a:r>
                <a:rPr lang="es-PE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¿Existe variabilidad morfológica, fisiológica, </a:t>
              </a:r>
              <a:r>
                <a:rPr lang="es-PE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nutricional</a:t>
              </a:r>
              <a:r>
                <a:rPr lang="es-PE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y molecular entre diez accesiones de oca (</a:t>
              </a:r>
              <a:r>
                <a:rPr lang="es-PE" sz="1800" i="1" dirty="0" err="1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Oxalis</a:t>
              </a:r>
              <a:r>
                <a:rPr lang="es-PE" sz="1800" i="1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tuberosa</a:t>
              </a:r>
              <a:r>
                <a:rPr lang="es-PE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)?</a:t>
              </a:r>
              <a:endPara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229CD43-035C-44E2-BB96-2BEDDFE270F3}"/>
              </a:ext>
            </a:extLst>
          </p:cNvPr>
          <p:cNvSpPr/>
          <p:nvPr/>
        </p:nvSpPr>
        <p:spPr>
          <a:xfrm>
            <a:off x="1178884" y="6517201"/>
            <a:ext cx="898553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050" b="1" dirty="0">
                <a:solidFill>
                  <a:schemeClr val="bg1"/>
                </a:solidFill>
                <a:latin typeface="Georgia" panose="02040502050405020303" pitchFamily="18" charset="0"/>
              </a:rPr>
              <a:t>TÉSIS I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EE300110-1C73-47F4-93C9-39EFE87DD04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611" r="10513"/>
          <a:stretch/>
        </p:blipFill>
        <p:spPr>
          <a:xfrm rot="16200000">
            <a:off x="2308099" y="2134227"/>
            <a:ext cx="2883856" cy="481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416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35"/>
    </mc:Choice>
    <mc:Fallback xmlns="">
      <p:transition spd="slow" advTm="1663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/>
          <p:cNvGrpSpPr/>
          <p:nvPr/>
        </p:nvGrpSpPr>
        <p:grpSpPr>
          <a:xfrm>
            <a:off x="0" y="6425184"/>
            <a:ext cx="12192000" cy="432816"/>
            <a:chOff x="0" y="6425184"/>
            <a:chExt cx="12192000" cy="432816"/>
          </a:xfrm>
        </p:grpSpPr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997518A5-3297-4B80-A555-4C1C69FA9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425184"/>
              <a:ext cx="12192000" cy="432816"/>
            </a:xfrm>
            <a:prstGeom prst="rect">
              <a:avLst/>
            </a:prstGeom>
          </p:spPr>
        </p:pic>
        <p:sp>
          <p:nvSpPr>
            <p:cNvPr id="6" name="CuadroTexto 5"/>
            <p:cNvSpPr txBox="1"/>
            <p:nvPr/>
          </p:nvSpPr>
          <p:spPr>
            <a:xfrm>
              <a:off x="11688416" y="6472315"/>
              <a:ext cx="5035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3</a:t>
              </a:r>
              <a:endParaRPr lang="es-PE" sz="1600" b="1" dirty="0">
                <a:solidFill>
                  <a:schemeClr val="bg1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CFA54EDF-2AFA-4946-B5E7-B4FCAE16166E}"/>
              </a:ext>
            </a:extLst>
          </p:cNvPr>
          <p:cNvGrpSpPr/>
          <p:nvPr/>
        </p:nvGrpSpPr>
        <p:grpSpPr>
          <a:xfrm>
            <a:off x="3068257" y="1721223"/>
            <a:ext cx="7096160" cy="4372804"/>
            <a:chOff x="1260913" y="1272713"/>
            <a:chExt cx="5217938" cy="3185175"/>
          </a:xfrm>
        </p:grpSpPr>
        <p:grpSp>
          <p:nvGrpSpPr>
            <p:cNvPr id="9" name="Google Shape;1080;p36">
              <a:extLst>
                <a:ext uri="{FF2B5EF4-FFF2-40B4-BE49-F238E27FC236}">
                  <a16:creationId xmlns:a16="http://schemas.microsoft.com/office/drawing/2014/main" id="{B33D2CBC-84FE-4527-9995-028C72DC2664}"/>
                </a:ext>
              </a:extLst>
            </p:cNvPr>
            <p:cNvGrpSpPr/>
            <p:nvPr/>
          </p:nvGrpSpPr>
          <p:grpSpPr>
            <a:xfrm>
              <a:off x="1265713" y="1272713"/>
              <a:ext cx="5213137" cy="1593000"/>
              <a:chOff x="1265713" y="1272713"/>
              <a:chExt cx="5213137" cy="1593000"/>
            </a:xfrm>
          </p:grpSpPr>
          <p:sp>
            <p:nvSpPr>
              <p:cNvPr id="27" name="Google Shape;1067;p36">
                <a:extLst>
                  <a:ext uri="{FF2B5EF4-FFF2-40B4-BE49-F238E27FC236}">
                    <a16:creationId xmlns:a16="http://schemas.microsoft.com/office/drawing/2014/main" id="{0BD2E02A-D888-4ACB-9B5C-29D00E187F8C}"/>
                  </a:ext>
                </a:extLst>
              </p:cNvPr>
              <p:cNvSpPr/>
              <p:nvPr/>
            </p:nvSpPr>
            <p:spPr>
              <a:xfrm>
                <a:off x="3167150" y="1322225"/>
                <a:ext cx="3311700" cy="593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548625" tIns="91425" rIns="18287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8" name="Google Shape;1081;p36">
                <a:extLst>
                  <a:ext uri="{FF2B5EF4-FFF2-40B4-BE49-F238E27FC236}">
                    <a16:creationId xmlns:a16="http://schemas.microsoft.com/office/drawing/2014/main" id="{206218B1-4029-42E9-AEE2-664ABD4B92C9}"/>
                  </a:ext>
                </a:extLst>
              </p:cNvPr>
              <p:cNvSpPr/>
              <p:nvPr/>
            </p:nvSpPr>
            <p:spPr>
              <a:xfrm>
                <a:off x="2830813" y="1272713"/>
                <a:ext cx="692400" cy="692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9" name="Google Shape;1082;p36">
                <a:extLst>
                  <a:ext uri="{FF2B5EF4-FFF2-40B4-BE49-F238E27FC236}">
                    <a16:creationId xmlns:a16="http://schemas.microsoft.com/office/drawing/2014/main" id="{CF72623F-E11C-4689-9432-61DC0FBA4544}"/>
                  </a:ext>
                </a:extLst>
              </p:cNvPr>
              <p:cNvCxnSpPr/>
              <p:nvPr/>
            </p:nvCxnSpPr>
            <p:spPr>
              <a:xfrm rot="10800000" flipH="1">
                <a:off x="1265713" y="1535213"/>
                <a:ext cx="1666800" cy="1330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0" name="Google Shape;1083;p36">
                <a:extLst>
                  <a:ext uri="{FF2B5EF4-FFF2-40B4-BE49-F238E27FC236}">
                    <a16:creationId xmlns:a16="http://schemas.microsoft.com/office/drawing/2014/main" id="{E9D2E49D-5990-4E27-9F69-991992933FCE}"/>
                  </a:ext>
                </a:extLst>
              </p:cNvPr>
              <p:cNvSpPr/>
              <p:nvPr/>
            </p:nvSpPr>
            <p:spPr>
              <a:xfrm>
                <a:off x="2936425" y="1378325"/>
                <a:ext cx="481200" cy="481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solidFill>
                      <a:schemeClr val="accen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01</a:t>
                </a:r>
                <a:endParaRPr sz="22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grpSp>
          <p:nvGrpSpPr>
            <p:cNvPr id="10" name="Google Shape;1084;p36">
              <a:extLst>
                <a:ext uri="{FF2B5EF4-FFF2-40B4-BE49-F238E27FC236}">
                  <a16:creationId xmlns:a16="http://schemas.microsoft.com/office/drawing/2014/main" id="{77731942-B42A-44B6-910B-9F376EE46ECB}"/>
                </a:ext>
              </a:extLst>
            </p:cNvPr>
            <p:cNvGrpSpPr/>
            <p:nvPr/>
          </p:nvGrpSpPr>
          <p:grpSpPr>
            <a:xfrm>
              <a:off x="1265713" y="2103638"/>
              <a:ext cx="5213138" cy="766800"/>
              <a:chOff x="1265713" y="2103638"/>
              <a:chExt cx="5213138" cy="766800"/>
            </a:xfrm>
          </p:grpSpPr>
          <p:sp>
            <p:nvSpPr>
              <p:cNvPr id="23" name="Google Shape;1071;p36">
                <a:extLst>
                  <a:ext uri="{FF2B5EF4-FFF2-40B4-BE49-F238E27FC236}">
                    <a16:creationId xmlns:a16="http://schemas.microsoft.com/office/drawing/2014/main" id="{B79E9916-930A-4984-AE43-FF6DB95364DB}"/>
                  </a:ext>
                </a:extLst>
              </p:cNvPr>
              <p:cNvSpPr/>
              <p:nvPr/>
            </p:nvSpPr>
            <p:spPr>
              <a:xfrm>
                <a:off x="3167150" y="2153150"/>
                <a:ext cx="3311700" cy="593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548625" tIns="91425" rIns="18287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4" name="Google Shape;1085;p36">
                <a:extLst>
                  <a:ext uri="{FF2B5EF4-FFF2-40B4-BE49-F238E27FC236}">
                    <a16:creationId xmlns:a16="http://schemas.microsoft.com/office/drawing/2014/main" id="{163FCC96-FA52-4907-82B0-82580EBBD429}"/>
                  </a:ext>
                </a:extLst>
              </p:cNvPr>
              <p:cNvSpPr/>
              <p:nvPr/>
            </p:nvSpPr>
            <p:spPr>
              <a:xfrm>
                <a:off x="2830813" y="2103638"/>
                <a:ext cx="692400" cy="69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5" name="Google Shape;1086;p36">
                <a:extLst>
                  <a:ext uri="{FF2B5EF4-FFF2-40B4-BE49-F238E27FC236}">
                    <a16:creationId xmlns:a16="http://schemas.microsoft.com/office/drawing/2014/main" id="{7B12F3C0-E8BB-4A34-8F88-7D3BEAEEDE8F}"/>
                  </a:ext>
                </a:extLst>
              </p:cNvPr>
              <p:cNvCxnSpPr>
                <a:endCxn id="24" idx="2"/>
              </p:cNvCxnSpPr>
              <p:nvPr/>
            </p:nvCxnSpPr>
            <p:spPr>
              <a:xfrm rot="10800000" flipH="1">
                <a:off x="1265713" y="2449838"/>
                <a:ext cx="1565100" cy="420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6" name="Google Shape;1087;p36">
                <a:extLst>
                  <a:ext uri="{FF2B5EF4-FFF2-40B4-BE49-F238E27FC236}">
                    <a16:creationId xmlns:a16="http://schemas.microsoft.com/office/drawing/2014/main" id="{B1864929-A101-43E8-922D-A36CF2A3B0B5}"/>
                  </a:ext>
                </a:extLst>
              </p:cNvPr>
              <p:cNvSpPr/>
              <p:nvPr/>
            </p:nvSpPr>
            <p:spPr>
              <a:xfrm>
                <a:off x="2936425" y="2209250"/>
                <a:ext cx="481200" cy="481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solidFill>
                      <a:schemeClr val="accent2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02</a:t>
                </a:r>
                <a:endParaRPr sz="22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grpSp>
          <p:nvGrpSpPr>
            <p:cNvPr id="11" name="Google Shape;1088;p36">
              <a:extLst>
                <a:ext uri="{FF2B5EF4-FFF2-40B4-BE49-F238E27FC236}">
                  <a16:creationId xmlns:a16="http://schemas.microsoft.com/office/drawing/2014/main" id="{B2DB1AF9-38A7-4368-A883-50FE8AEFEAD4}"/>
                </a:ext>
              </a:extLst>
            </p:cNvPr>
            <p:cNvGrpSpPr/>
            <p:nvPr/>
          </p:nvGrpSpPr>
          <p:grpSpPr>
            <a:xfrm>
              <a:off x="1265713" y="2870663"/>
              <a:ext cx="5213138" cy="756300"/>
              <a:chOff x="1265713" y="2870663"/>
              <a:chExt cx="5213138" cy="756300"/>
            </a:xfrm>
          </p:grpSpPr>
          <p:sp>
            <p:nvSpPr>
              <p:cNvPr id="19" name="Google Shape;1075;p36">
                <a:extLst>
                  <a:ext uri="{FF2B5EF4-FFF2-40B4-BE49-F238E27FC236}">
                    <a16:creationId xmlns:a16="http://schemas.microsoft.com/office/drawing/2014/main" id="{93DFB475-6479-49DD-A675-EDAD58BD310C}"/>
                  </a:ext>
                </a:extLst>
              </p:cNvPr>
              <p:cNvSpPr/>
              <p:nvPr/>
            </p:nvSpPr>
            <p:spPr>
              <a:xfrm>
                <a:off x="3167150" y="2984075"/>
                <a:ext cx="3311700" cy="593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548625" tIns="91425" rIns="18287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0" name="Google Shape;1089;p36">
                <a:extLst>
                  <a:ext uri="{FF2B5EF4-FFF2-40B4-BE49-F238E27FC236}">
                    <a16:creationId xmlns:a16="http://schemas.microsoft.com/office/drawing/2014/main" id="{F7216FD0-3A79-498B-8873-EE5023ADE1F1}"/>
                  </a:ext>
                </a:extLst>
              </p:cNvPr>
              <p:cNvSpPr/>
              <p:nvPr/>
            </p:nvSpPr>
            <p:spPr>
              <a:xfrm>
                <a:off x="2830813" y="2934563"/>
                <a:ext cx="692400" cy="69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1" name="Google Shape;1090;p36">
                <a:extLst>
                  <a:ext uri="{FF2B5EF4-FFF2-40B4-BE49-F238E27FC236}">
                    <a16:creationId xmlns:a16="http://schemas.microsoft.com/office/drawing/2014/main" id="{6353D7F4-AA67-4D1E-9A27-19678DA3DF25}"/>
                  </a:ext>
                </a:extLst>
              </p:cNvPr>
              <p:cNvCxnSpPr>
                <a:endCxn id="20" idx="2"/>
              </p:cNvCxnSpPr>
              <p:nvPr/>
            </p:nvCxnSpPr>
            <p:spPr>
              <a:xfrm>
                <a:off x="1265713" y="2870663"/>
                <a:ext cx="1565100" cy="41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" name="Google Shape;1091;p36">
                <a:extLst>
                  <a:ext uri="{FF2B5EF4-FFF2-40B4-BE49-F238E27FC236}">
                    <a16:creationId xmlns:a16="http://schemas.microsoft.com/office/drawing/2014/main" id="{E03369E2-AF4B-4E03-9E89-99D9EE39547F}"/>
                  </a:ext>
                </a:extLst>
              </p:cNvPr>
              <p:cNvSpPr/>
              <p:nvPr/>
            </p:nvSpPr>
            <p:spPr>
              <a:xfrm>
                <a:off x="2936425" y="3040175"/>
                <a:ext cx="481200" cy="481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solidFill>
                      <a:schemeClr val="accent3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03</a:t>
                </a:r>
                <a:endParaRPr sz="22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grpSp>
          <p:nvGrpSpPr>
            <p:cNvPr id="12" name="Google Shape;1092;p36">
              <a:extLst>
                <a:ext uri="{FF2B5EF4-FFF2-40B4-BE49-F238E27FC236}">
                  <a16:creationId xmlns:a16="http://schemas.microsoft.com/office/drawing/2014/main" id="{55298A84-CE96-41B6-AE95-70573C11BE93}"/>
                </a:ext>
              </a:extLst>
            </p:cNvPr>
            <p:cNvGrpSpPr/>
            <p:nvPr/>
          </p:nvGrpSpPr>
          <p:grpSpPr>
            <a:xfrm>
              <a:off x="1260913" y="2865488"/>
              <a:ext cx="5217938" cy="1592400"/>
              <a:chOff x="1260913" y="2865488"/>
              <a:chExt cx="5217938" cy="1592400"/>
            </a:xfrm>
          </p:grpSpPr>
          <p:sp>
            <p:nvSpPr>
              <p:cNvPr id="13" name="Google Shape;1079;p36">
                <a:extLst>
                  <a:ext uri="{FF2B5EF4-FFF2-40B4-BE49-F238E27FC236}">
                    <a16:creationId xmlns:a16="http://schemas.microsoft.com/office/drawing/2014/main" id="{068F8843-0A42-490E-980A-D708D7E1BE74}"/>
                  </a:ext>
                </a:extLst>
              </p:cNvPr>
              <p:cNvSpPr/>
              <p:nvPr/>
            </p:nvSpPr>
            <p:spPr>
              <a:xfrm>
                <a:off x="3167150" y="3815000"/>
                <a:ext cx="3311700" cy="593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548625" tIns="91425" rIns="18287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" name="Google Shape;1093;p36">
                <a:extLst>
                  <a:ext uri="{FF2B5EF4-FFF2-40B4-BE49-F238E27FC236}">
                    <a16:creationId xmlns:a16="http://schemas.microsoft.com/office/drawing/2014/main" id="{7ABF469C-01A4-444E-A1F2-82204632C343}"/>
                  </a:ext>
                </a:extLst>
              </p:cNvPr>
              <p:cNvSpPr/>
              <p:nvPr/>
            </p:nvSpPr>
            <p:spPr>
              <a:xfrm>
                <a:off x="2830813" y="3765488"/>
                <a:ext cx="692400" cy="6924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15" name="Google Shape;1094;p36">
                <a:extLst>
                  <a:ext uri="{FF2B5EF4-FFF2-40B4-BE49-F238E27FC236}">
                    <a16:creationId xmlns:a16="http://schemas.microsoft.com/office/drawing/2014/main" id="{1A283704-A4C0-4548-9929-94C7C08FEDAB}"/>
                  </a:ext>
                </a:extLst>
              </p:cNvPr>
              <p:cNvCxnSpPr>
                <a:endCxn id="14" idx="2"/>
              </p:cNvCxnSpPr>
              <p:nvPr/>
            </p:nvCxnSpPr>
            <p:spPr>
              <a:xfrm>
                <a:off x="1260913" y="2865488"/>
                <a:ext cx="1569900" cy="1246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6" name="Google Shape;1095;p36">
                <a:extLst>
                  <a:ext uri="{FF2B5EF4-FFF2-40B4-BE49-F238E27FC236}">
                    <a16:creationId xmlns:a16="http://schemas.microsoft.com/office/drawing/2014/main" id="{1C8CBC74-F240-4C53-8333-E6C9C16F9662}"/>
                  </a:ext>
                </a:extLst>
              </p:cNvPr>
              <p:cNvSpPr/>
              <p:nvPr/>
            </p:nvSpPr>
            <p:spPr>
              <a:xfrm>
                <a:off x="2936425" y="3871100"/>
                <a:ext cx="481200" cy="481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solidFill>
                      <a:schemeClr val="accent5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04</a:t>
                </a:r>
                <a:endParaRPr sz="22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</p:grp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04F686A-B949-44F4-B751-D66CD9D32F41}"/>
              </a:ext>
            </a:extLst>
          </p:cNvPr>
          <p:cNvSpPr txBox="1"/>
          <p:nvPr/>
        </p:nvSpPr>
        <p:spPr>
          <a:xfrm>
            <a:off x="224817" y="38322"/>
            <a:ext cx="2708243" cy="579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es-PE" sz="24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OBJETIVOS </a:t>
            </a:r>
            <a:endParaRPr lang="es-PE" sz="20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88E0213-B365-44F5-877B-AF54B5D68A4C}"/>
              </a:ext>
            </a:extLst>
          </p:cNvPr>
          <p:cNvSpPr txBox="1"/>
          <p:nvPr/>
        </p:nvSpPr>
        <p:spPr>
          <a:xfrm>
            <a:off x="613914" y="709408"/>
            <a:ext cx="2370465" cy="4633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Aft>
                <a:spcPts val="800"/>
              </a:spcAft>
            </a:pPr>
            <a:r>
              <a:rPr lang="es-PE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Objetivo general 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2B61008-66F8-451E-ABDF-EFDA5D93AAD1}"/>
              </a:ext>
            </a:extLst>
          </p:cNvPr>
          <p:cNvSpPr txBox="1"/>
          <p:nvPr/>
        </p:nvSpPr>
        <p:spPr>
          <a:xfrm>
            <a:off x="6144883" y="1878096"/>
            <a:ext cx="39552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Aft>
                <a:spcPts val="800"/>
              </a:spcAft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Evaluar las características morfológicas de diez accesiones de oca.</a:t>
            </a:r>
            <a:endParaRPr lang="es-PE" sz="14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DFBD6F3E-A1D1-4079-A595-9D53BFFEB174}"/>
              </a:ext>
            </a:extLst>
          </p:cNvPr>
          <p:cNvSpPr txBox="1"/>
          <p:nvPr/>
        </p:nvSpPr>
        <p:spPr>
          <a:xfrm>
            <a:off x="6158032" y="3037615"/>
            <a:ext cx="4070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</a:rPr>
              <a:t>Determinar parámetros fisiológicos de diez accesiones de oca.</a:t>
            </a:r>
            <a:endParaRPr lang="es-PE" sz="1600" dirty="0">
              <a:latin typeface="Georgia" panose="02040502050405020303" pitchFamily="18" charset="0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4677325-187E-4876-A173-61DD9A518D20}"/>
              </a:ext>
            </a:extLst>
          </p:cNvPr>
          <p:cNvSpPr txBox="1"/>
          <p:nvPr/>
        </p:nvSpPr>
        <p:spPr>
          <a:xfrm>
            <a:off x="6158032" y="4178597"/>
            <a:ext cx="39421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</a:rPr>
              <a:t>Analizar el perfil nutricional de 10 accesiones de oca.</a:t>
            </a:r>
            <a:endParaRPr lang="es-PE" sz="1600" dirty="0">
              <a:latin typeface="Georgia" panose="02040502050405020303" pitchFamily="18" charset="0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629D6ED7-DB2C-4BB7-9316-41AB5F046946}"/>
              </a:ext>
            </a:extLst>
          </p:cNvPr>
          <p:cNvSpPr txBox="1"/>
          <p:nvPr/>
        </p:nvSpPr>
        <p:spPr>
          <a:xfrm>
            <a:off x="6144883" y="5326354"/>
            <a:ext cx="36852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</a:rPr>
              <a:t>Ensamblar el genoma </a:t>
            </a:r>
            <a:r>
              <a:rPr lang="es-PE" sz="1600" dirty="0" err="1">
                <a:effectLst/>
                <a:latin typeface="Georgia" panose="02040502050405020303" pitchFamily="18" charset="0"/>
                <a:ea typeface="Calibri" panose="020F0502020204030204" pitchFamily="34" charset="0"/>
              </a:rPr>
              <a:t>cloroplastidial</a:t>
            </a: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</a:rPr>
              <a:t> de 10 accesiones de oca.</a:t>
            </a:r>
            <a:endParaRPr lang="es-PE" sz="1600" dirty="0">
              <a:latin typeface="Georgia" panose="02040502050405020303" pitchFamily="18" charset="0"/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3868B3DC-EAE7-4E06-8E59-DBBB12CC61FD}"/>
              </a:ext>
            </a:extLst>
          </p:cNvPr>
          <p:cNvSpPr txBox="1"/>
          <p:nvPr/>
        </p:nvSpPr>
        <p:spPr>
          <a:xfrm>
            <a:off x="981635" y="3591513"/>
            <a:ext cx="2002744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lvl="1" algn="just">
              <a:spcAft>
                <a:spcPts val="800"/>
              </a:spcAft>
            </a:pPr>
            <a:r>
              <a:rPr lang="es-PE" sz="18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Objetivos específicos 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2" name="Google Shape;1082;p36">
            <a:extLst>
              <a:ext uri="{FF2B5EF4-FFF2-40B4-BE49-F238E27FC236}">
                <a16:creationId xmlns:a16="http://schemas.microsoft.com/office/drawing/2014/main" id="{9C47E539-6807-4E8E-A068-9D2649F305B2}"/>
              </a:ext>
            </a:extLst>
          </p:cNvPr>
          <p:cNvCxnSpPr>
            <a:cxnSpLocks/>
          </p:cNvCxnSpPr>
          <p:nvPr/>
        </p:nvCxnSpPr>
        <p:spPr>
          <a:xfrm flipV="1">
            <a:off x="3074784" y="945810"/>
            <a:ext cx="2213312" cy="969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CuadroTexto 55">
            <a:extLst>
              <a:ext uri="{FF2B5EF4-FFF2-40B4-BE49-F238E27FC236}">
                <a16:creationId xmlns:a16="http://schemas.microsoft.com/office/drawing/2014/main" id="{69B91182-36E1-4FA5-8759-B564BD6BEBE1}"/>
              </a:ext>
            </a:extLst>
          </p:cNvPr>
          <p:cNvSpPr txBox="1"/>
          <p:nvPr/>
        </p:nvSpPr>
        <p:spPr>
          <a:xfrm>
            <a:off x="5341558" y="641389"/>
            <a:ext cx="6199585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MX" sz="1600" dirty="0">
                <a:latin typeface="Georgia" panose="02040502050405020303" pitchFamily="18" charset="0"/>
              </a:rPr>
              <a:t>Caracterizar la variabilidad morfológica, fisiológica, nutricional y molecular en 10 accesiones de oca (</a:t>
            </a:r>
            <a:r>
              <a:rPr lang="es-MX" sz="1600" i="1" dirty="0" err="1">
                <a:latin typeface="Georgia" panose="02040502050405020303" pitchFamily="18" charset="0"/>
              </a:rPr>
              <a:t>Oxalis</a:t>
            </a:r>
            <a:r>
              <a:rPr lang="es-MX" sz="1600" i="1" dirty="0">
                <a:latin typeface="Georgia" panose="02040502050405020303" pitchFamily="18" charset="0"/>
              </a:rPr>
              <a:t> tuberosa</a:t>
            </a:r>
            <a:r>
              <a:rPr lang="es-MX" sz="1600" dirty="0">
                <a:latin typeface="Georgia" panose="02040502050405020303" pitchFamily="18" charset="0"/>
              </a:rPr>
              <a:t>).</a:t>
            </a:r>
            <a:endParaRPr lang="es-PE" sz="1600" dirty="0">
              <a:latin typeface="Georgia" panose="02040502050405020303" pitchFamily="18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53E45F86-619A-4180-B080-B2306F2ACD83}"/>
              </a:ext>
            </a:extLst>
          </p:cNvPr>
          <p:cNvSpPr/>
          <p:nvPr/>
        </p:nvSpPr>
        <p:spPr>
          <a:xfrm>
            <a:off x="1178884" y="6517201"/>
            <a:ext cx="898553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050" b="1" dirty="0">
                <a:solidFill>
                  <a:schemeClr val="bg1"/>
                </a:solidFill>
                <a:latin typeface="Georgia" panose="02040502050405020303" pitchFamily="18" charset="0"/>
              </a:rPr>
              <a:t>TÉSIS I</a:t>
            </a:r>
          </a:p>
        </p:txBody>
      </p:sp>
    </p:spTree>
    <p:extLst>
      <p:ext uri="{BB962C8B-B14F-4D97-AF65-F5344CB8AC3E}">
        <p14:creationId xmlns:p14="http://schemas.microsoft.com/office/powerpoint/2010/main" val="260508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480"/>
    </mc:Choice>
    <mc:Fallback xmlns="">
      <p:transition spd="slow" advTm="2648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44838CEC-D1FD-4A54-A1C0-5CBA7B46A5F1}"/>
              </a:ext>
            </a:extLst>
          </p:cNvPr>
          <p:cNvGrpSpPr/>
          <p:nvPr/>
        </p:nvGrpSpPr>
        <p:grpSpPr>
          <a:xfrm>
            <a:off x="0" y="6425184"/>
            <a:ext cx="12192000" cy="432816"/>
            <a:chOff x="0" y="6425184"/>
            <a:chExt cx="12192000" cy="432816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17AF3DE7-9F3C-44F5-9ACE-C9B0586D78AB}"/>
                </a:ext>
              </a:extLst>
            </p:cNvPr>
            <p:cNvGrpSpPr/>
            <p:nvPr/>
          </p:nvGrpSpPr>
          <p:grpSpPr>
            <a:xfrm>
              <a:off x="0" y="6425184"/>
              <a:ext cx="12192000" cy="432816"/>
              <a:chOff x="0" y="6425184"/>
              <a:chExt cx="12192000" cy="432816"/>
            </a:xfrm>
          </p:grpSpPr>
          <p:pic>
            <p:nvPicPr>
              <p:cNvPr id="3" name="Imagen 2">
                <a:extLst>
                  <a:ext uri="{FF2B5EF4-FFF2-40B4-BE49-F238E27FC236}">
                    <a16:creationId xmlns:a16="http://schemas.microsoft.com/office/drawing/2014/main" id="{1CD463B4-5C82-40C6-A008-4498FC6F84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6425184"/>
                <a:ext cx="12192000" cy="432816"/>
              </a:xfrm>
              <a:prstGeom prst="rect">
                <a:avLst/>
              </a:prstGeom>
            </p:spPr>
          </p:pic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B5912D8-F84B-4282-AC9D-33B098C6CC25}"/>
                  </a:ext>
                </a:extLst>
              </p:cNvPr>
              <p:cNvSpPr txBox="1"/>
              <p:nvPr/>
            </p:nvSpPr>
            <p:spPr>
              <a:xfrm>
                <a:off x="11688416" y="6472315"/>
                <a:ext cx="5035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600" b="1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4</a:t>
                </a:r>
                <a:endParaRPr lang="es-PE" sz="1600" b="1" dirty="0">
                  <a:solidFill>
                    <a:schemeClr val="bg1"/>
                  </a:solidFill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5CBD84E6-AF7A-4E96-B834-A298EA9AD359}"/>
                </a:ext>
              </a:extLst>
            </p:cNvPr>
            <p:cNvSpPr/>
            <p:nvPr/>
          </p:nvSpPr>
          <p:spPr>
            <a:xfrm>
              <a:off x="1178884" y="6517201"/>
              <a:ext cx="8985533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MX" sz="105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TÉSIS I</a:t>
              </a:r>
            </a:p>
          </p:txBody>
        </p:sp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0AF6B54-CE5E-48C8-ACB0-115EC88F3CE8}"/>
              </a:ext>
            </a:extLst>
          </p:cNvPr>
          <p:cNvSpPr txBox="1"/>
          <p:nvPr/>
        </p:nvSpPr>
        <p:spPr>
          <a:xfrm>
            <a:off x="238686" y="192867"/>
            <a:ext cx="6942044" cy="59148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ctr">
              <a:spcAft>
                <a:spcPts val="800"/>
              </a:spcAft>
            </a:pPr>
            <a:r>
              <a:rPr lang="es-PE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ANTECEDENTES DE LA INVESTIGACIÓN </a:t>
            </a:r>
            <a:endParaRPr lang="es-PE" b="1" dirty="0"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P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PE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·</a:t>
            </a:r>
            <a:r>
              <a:rPr lang="es-P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Cruz (2018) evaluó 187 accesiones de oca de 9 regiones, destacando alta variabilidad morfológica, especialmente en Ancash, Puno y Cajamarca.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s-P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s-PE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Chayña</a:t>
            </a:r>
            <a:r>
              <a:rPr lang="es-P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(2024) caracterizó 40 accesiones de la UNA-Puno, identificando distintos </a:t>
            </a:r>
            <a:r>
              <a:rPr lang="es-PE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morfotipos</a:t>
            </a:r>
            <a:r>
              <a:rPr lang="es-P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vegetativos y reproductivos.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s-P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El INIA y el CIP (Nina Montiel et al., 2020) publicaron un catálogo morfológico útil para la conservación de accesiones peruanas.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s-P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A nivel fisiológico, se han evaluado pigmentos fotosintéticos (clorofilas y carotenoides) con metodologías clásicas (</a:t>
            </a:r>
            <a:r>
              <a:rPr lang="es-PE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Lichtenthaler</a:t>
            </a:r>
            <a:r>
              <a:rPr lang="es-P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1987) y nuevas como el protocolo </a:t>
            </a:r>
            <a:r>
              <a:rPr lang="es-PE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Rainbow</a:t>
            </a:r>
            <a:r>
              <a:rPr lang="es-P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(López-Hidalgo et al., 2021).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s-P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En cuanto al perfil nutricional, la oca destaca por su alto contenido de almidón, proteínas bioactivas (</a:t>
            </a:r>
            <a:r>
              <a:rPr lang="es-PE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ocatina</a:t>
            </a:r>
            <a:r>
              <a:rPr lang="es-P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fenoles, carotenoides y antocianinas, con capacidad antioxidante (Chirinos et al., 2009; </a:t>
            </a:r>
            <a:r>
              <a:rPr lang="es-PE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Stegemann</a:t>
            </a:r>
            <a:r>
              <a:rPr lang="es-P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et al., 1988).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s-P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A nivel molecular, los estudios del genoma </a:t>
            </a:r>
            <a:r>
              <a:rPr lang="es-PE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cloroplastidial</a:t>
            </a:r>
            <a:r>
              <a:rPr lang="es-P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aún son limitados, pero son clave para la conservación y mejoramiento.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spcAft>
                <a:spcPts val="800"/>
              </a:spcAft>
            </a:pP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94F4A40-E826-47FE-83E4-2E38BAE8C84D}"/>
              </a:ext>
            </a:extLst>
          </p:cNvPr>
          <p:cNvSpPr txBox="1"/>
          <p:nvPr/>
        </p:nvSpPr>
        <p:spPr>
          <a:xfrm>
            <a:off x="7274859" y="192867"/>
            <a:ext cx="4678456" cy="18774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/>
            <a:r>
              <a:rPr lang="es-PE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HIPÓTESIS</a:t>
            </a:r>
            <a:endParaRPr lang="es-PE" b="1" dirty="0"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/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Existe variabilidad en las características morfológicas, fisiológicas, bioquímicas y moleculares entre las diez accesiones de oca (</a:t>
            </a:r>
            <a:r>
              <a:rPr lang="es-PE" sz="1600" i="1" dirty="0" err="1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Oxalis</a:t>
            </a:r>
            <a:r>
              <a:rPr lang="es-PE" sz="1600" i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tuberosa </a:t>
            </a: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Mol).</a:t>
            </a:r>
            <a:endParaRPr lang="es-PE" sz="1600" dirty="0"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/>
            <a:r>
              <a:rPr lang="es-PE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METODOLOGÍA</a:t>
            </a:r>
            <a:endParaRPr lang="es-PE" dirty="0"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/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Ubicación de la investigación</a:t>
            </a:r>
            <a:endParaRPr lang="es-PE" sz="1600" b="1" dirty="0"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119732A-C272-447F-8B80-9D415507A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953" y="2513952"/>
            <a:ext cx="3219899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989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250"/>
    </mc:Choice>
    <mc:Fallback xmlns="">
      <p:transition spd="slow" advTm="6725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44838CEC-D1FD-4A54-A1C0-5CBA7B46A5F1}"/>
              </a:ext>
            </a:extLst>
          </p:cNvPr>
          <p:cNvGrpSpPr/>
          <p:nvPr/>
        </p:nvGrpSpPr>
        <p:grpSpPr>
          <a:xfrm>
            <a:off x="0" y="6425184"/>
            <a:ext cx="12192000" cy="432816"/>
            <a:chOff x="0" y="6425184"/>
            <a:chExt cx="12192000" cy="432816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17AF3DE7-9F3C-44F5-9ACE-C9B0586D78AB}"/>
                </a:ext>
              </a:extLst>
            </p:cNvPr>
            <p:cNvGrpSpPr/>
            <p:nvPr/>
          </p:nvGrpSpPr>
          <p:grpSpPr>
            <a:xfrm>
              <a:off x="0" y="6425184"/>
              <a:ext cx="12192000" cy="432816"/>
              <a:chOff x="0" y="6425184"/>
              <a:chExt cx="12192000" cy="432816"/>
            </a:xfrm>
          </p:grpSpPr>
          <p:pic>
            <p:nvPicPr>
              <p:cNvPr id="3" name="Imagen 2">
                <a:extLst>
                  <a:ext uri="{FF2B5EF4-FFF2-40B4-BE49-F238E27FC236}">
                    <a16:creationId xmlns:a16="http://schemas.microsoft.com/office/drawing/2014/main" id="{1CD463B4-5C82-40C6-A008-4498FC6F84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6425184"/>
                <a:ext cx="12192000" cy="432816"/>
              </a:xfrm>
              <a:prstGeom prst="rect">
                <a:avLst/>
              </a:prstGeom>
            </p:spPr>
          </p:pic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B5912D8-F84B-4282-AC9D-33B098C6CC25}"/>
                  </a:ext>
                </a:extLst>
              </p:cNvPr>
              <p:cNvSpPr txBox="1"/>
              <p:nvPr/>
            </p:nvSpPr>
            <p:spPr>
              <a:xfrm>
                <a:off x="11688416" y="6472315"/>
                <a:ext cx="5035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600" b="1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5</a:t>
                </a:r>
                <a:endParaRPr lang="es-PE" sz="1600" b="1" dirty="0">
                  <a:solidFill>
                    <a:schemeClr val="bg1"/>
                  </a:solidFill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5CBD84E6-AF7A-4E96-B834-A298EA9AD359}"/>
                </a:ext>
              </a:extLst>
            </p:cNvPr>
            <p:cNvSpPr/>
            <p:nvPr/>
          </p:nvSpPr>
          <p:spPr>
            <a:xfrm>
              <a:off x="1178884" y="6517201"/>
              <a:ext cx="8985533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MX" sz="105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TÉSIS I</a:t>
              </a: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F787CD00-D478-4C41-BBF6-D0031220E35E}"/>
              </a:ext>
            </a:extLst>
          </p:cNvPr>
          <p:cNvSpPr txBox="1"/>
          <p:nvPr/>
        </p:nvSpPr>
        <p:spPr>
          <a:xfrm>
            <a:off x="276369" y="440137"/>
            <a:ext cx="6084089" cy="50372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PE" sz="1600" b="1" u="sng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6.1. Población, muestra y muestreo</a:t>
            </a:r>
          </a:p>
          <a:p>
            <a:pPr lvl="1" algn="just"/>
            <a:endParaRPr lang="es-PE" sz="1600" u="sng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algn="just">
              <a:spcAft>
                <a:spcPts val="800"/>
              </a:spcAft>
            </a:pPr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Población</a:t>
            </a:r>
            <a:endParaRPr lang="es-PE" sz="1600" b="1" dirty="0"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algn="just">
              <a:spcAft>
                <a:spcPts val="800"/>
              </a:spcAft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población de estudio está conformada por accesiones de oca (</a:t>
            </a:r>
            <a:r>
              <a:rPr lang="es-PE" sz="1600" i="1" dirty="0" err="1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Oxalis</a:t>
            </a:r>
            <a:r>
              <a:rPr lang="es-PE" sz="1600" i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tuberosa </a:t>
            </a: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Mol</a:t>
            </a:r>
            <a:r>
              <a:rPr lang="es-PE" sz="1600" i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provenientes de Cajamarca y Amazonas. En total, la población incluye 1280 plantas distribuidas entre las 10 accesiones de oca.</a:t>
            </a:r>
          </a:p>
          <a:p>
            <a:pPr lvl="2" algn="just">
              <a:spcAft>
                <a:spcPts val="800"/>
              </a:spcAft>
            </a:pPr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Muestra: </a:t>
            </a:r>
            <a:endParaRPr lang="es-PE" sz="1600" b="1" dirty="0"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algn="just">
              <a:spcAft>
                <a:spcPts val="800"/>
              </a:spcAft>
            </a:pPr>
            <a:r>
              <a:rPr lang="es-MX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muestra estará constituida por 10 plantas de cada accesión de oca. Cada accesión estará distribuida en 4 bloques, sumando un total de 40 unidades experimentales.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algn="just">
              <a:spcAft>
                <a:spcPts val="800"/>
              </a:spcAft>
            </a:pPr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Muestreo</a:t>
            </a:r>
            <a:endParaRPr lang="es-PE" sz="1600" b="1" dirty="0"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algn="just">
              <a:spcAft>
                <a:spcPts val="800"/>
              </a:spcAft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empleará un muestreo no probabilístico y el experimento se establecerá bajo un diseño de bloques completos al azar (DBCA). La distribución de cada tratamiento será aleatoria.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130A730-7442-4091-BD69-D6386C0AB22B}"/>
              </a:ext>
            </a:extLst>
          </p:cNvPr>
          <p:cNvSpPr txBox="1"/>
          <p:nvPr/>
        </p:nvSpPr>
        <p:spPr>
          <a:xfrm>
            <a:off x="6859475" y="223644"/>
            <a:ext cx="4828941" cy="61555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PE" sz="1600" b="1" u="sng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6.2.Variable del estudio </a:t>
            </a:r>
          </a:p>
          <a:p>
            <a:pPr lvl="1" algn="just"/>
            <a:endParaRPr lang="es-PE" sz="1600" u="sng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algn="just"/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Variable independiente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Accesiones de oca (</a:t>
            </a:r>
            <a:r>
              <a:rPr lang="es-PE" sz="1600" i="1" dirty="0" err="1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Oxalis</a:t>
            </a:r>
            <a:r>
              <a:rPr lang="es-PE" sz="1600" i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tuberosa</a:t>
            </a: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lvl="2" algn="just"/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Variable dependiente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lphaLcParenR"/>
            </a:pPr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Morfológicas y fenológicas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Altura de planta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Número de brotes por planta</a:t>
            </a:r>
          </a:p>
          <a:p>
            <a:pPr marL="342900" lvl="0" indent="-342900" algn="just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 de los tallos aéreos</a:t>
            </a:r>
          </a:p>
          <a:p>
            <a:pPr marL="342900" lvl="0" indent="-342900" algn="just">
              <a:buFont typeface="+mj-lt"/>
              <a:buAutoNum type="alphaLcParenR"/>
            </a:pPr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Fisiológicos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Contenido de clorofila a y b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Contenido de carotenoides totales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Fotosíntesis neta 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Fluorescencia de la clorofila a</a:t>
            </a:r>
          </a:p>
          <a:p>
            <a:pPr marL="342900" lvl="0" indent="-342900" algn="just">
              <a:buFont typeface="+mj-lt"/>
              <a:buAutoNum type="alphaLcParenR"/>
            </a:pPr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Bioquímicos (en tubérculos) 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Contenido de almidón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Contenido de azúcares totales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Contenido de aminoácidos totales </a:t>
            </a:r>
          </a:p>
          <a:p>
            <a:pPr marL="342900" lvl="0" indent="-342900" algn="just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Contenido de proteína total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es-PE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Molecular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P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Secuencia del genoma </a:t>
            </a:r>
            <a:r>
              <a:rPr lang="es-PE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cloroplastidial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809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566"/>
    </mc:Choice>
    <mc:Fallback xmlns="">
      <p:transition spd="slow" advTm="6156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44838CEC-D1FD-4A54-A1C0-5CBA7B46A5F1}"/>
              </a:ext>
            </a:extLst>
          </p:cNvPr>
          <p:cNvGrpSpPr/>
          <p:nvPr/>
        </p:nvGrpSpPr>
        <p:grpSpPr>
          <a:xfrm>
            <a:off x="0" y="6425184"/>
            <a:ext cx="12192000" cy="432816"/>
            <a:chOff x="0" y="6425184"/>
            <a:chExt cx="12192000" cy="432816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17AF3DE7-9F3C-44F5-9ACE-C9B0586D78AB}"/>
                </a:ext>
              </a:extLst>
            </p:cNvPr>
            <p:cNvGrpSpPr/>
            <p:nvPr/>
          </p:nvGrpSpPr>
          <p:grpSpPr>
            <a:xfrm>
              <a:off x="0" y="6425184"/>
              <a:ext cx="12192000" cy="432816"/>
              <a:chOff x="0" y="6425184"/>
              <a:chExt cx="12192000" cy="432816"/>
            </a:xfrm>
          </p:grpSpPr>
          <p:pic>
            <p:nvPicPr>
              <p:cNvPr id="3" name="Imagen 2">
                <a:extLst>
                  <a:ext uri="{FF2B5EF4-FFF2-40B4-BE49-F238E27FC236}">
                    <a16:creationId xmlns:a16="http://schemas.microsoft.com/office/drawing/2014/main" id="{1CD463B4-5C82-40C6-A008-4498FC6F84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6425184"/>
                <a:ext cx="12192000" cy="432816"/>
              </a:xfrm>
              <a:prstGeom prst="rect">
                <a:avLst/>
              </a:prstGeom>
            </p:spPr>
          </p:pic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B5912D8-F84B-4282-AC9D-33B098C6CC25}"/>
                  </a:ext>
                </a:extLst>
              </p:cNvPr>
              <p:cNvSpPr txBox="1"/>
              <p:nvPr/>
            </p:nvSpPr>
            <p:spPr>
              <a:xfrm>
                <a:off x="11688416" y="6472315"/>
                <a:ext cx="5035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600" b="1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6</a:t>
                </a:r>
                <a:endParaRPr lang="es-PE" sz="1600" b="1" dirty="0">
                  <a:solidFill>
                    <a:schemeClr val="bg1"/>
                  </a:solidFill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5CBD84E6-AF7A-4E96-B834-A298EA9AD359}"/>
                </a:ext>
              </a:extLst>
            </p:cNvPr>
            <p:cNvSpPr/>
            <p:nvPr/>
          </p:nvSpPr>
          <p:spPr>
            <a:xfrm>
              <a:off x="1178884" y="6517201"/>
              <a:ext cx="8985533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MX" sz="105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TÉSIS I</a:t>
              </a: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EC2DED45-15A9-4C26-AADD-32EDDD9AB8AA}"/>
              </a:ext>
            </a:extLst>
          </p:cNvPr>
          <p:cNvSpPr txBox="1"/>
          <p:nvPr/>
        </p:nvSpPr>
        <p:spPr>
          <a:xfrm>
            <a:off x="436395" y="235274"/>
            <a:ext cx="609824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/>
            <a:r>
              <a:rPr lang="es-PE" b="1" u="sng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6.3 Métodos </a:t>
            </a:r>
          </a:p>
          <a:p>
            <a:pPr lvl="1" algn="just"/>
            <a:endParaRPr lang="es-PE" sz="1600" u="sng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algn="just">
              <a:spcAft>
                <a:spcPts val="800"/>
              </a:spcAft>
            </a:pPr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Material vegetal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0D46AD0-BD01-4406-A8C9-F70C5323439E}"/>
              </a:ext>
            </a:extLst>
          </p:cNvPr>
          <p:cNvSpPr txBox="1"/>
          <p:nvPr/>
        </p:nvSpPr>
        <p:spPr>
          <a:xfrm>
            <a:off x="0" y="1064198"/>
            <a:ext cx="30491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just">
              <a:spcAft>
                <a:spcPts val="800"/>
              </a:spcAft>
            </a:pPr>
            <a:r>
              <a:rPr lang="es-PE" sz="14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Tabla 1: </a:t>
            </a:r>
            <a:r>
              <a:rPr lang="es-PE" sz="14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Accesiones y lugar de origen de oca (</a:t>
            </a:r>
            <a:r>
              <a:rPr lang="es-PE" sz="1400" i="1" dirty="0" err="1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Oxalis</a:t>
            </a:r>
            <a:r>
              <a:rPr lang="es-PE" sz="1400" i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tuberosa</a:t>
            </a:r>
            <a:r>
              <a:rPr lang="es-PE" sz="14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Mol.)</a:t>
            </a:r>
          </a:p>
        </p:txBody>
      </p: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2F69ACF5-9EDD-4865-BE43-B140E7537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140837"/>
              </p:ext>
            </p:extLst>
          </p:nvPr>
        </p:nvGraphicFramePr>
        <p:xfrm>
          <a:off x="436395" y="1943017"/>
          <a:ext cx="3987687" cy="3591687"/>
        </p:xfrm>
        <a:graphic>
          <a:graphicData uri="http://schemas.openxmlformats.org/drawingml/2006/table">
            <a:tbl>
              <a:tblPr firstRow="1" firstCol="1" bandRow="1">
                <a:tableStyleId>{68D230F3-CF80-4859-8CE7-A43EE81993B5}</a:tableStyleId>
              </a:tblPr>
              <a:tblGrid>
                <a:gridCol w="1359946">
                  <a:extLst>
                    <a:ext uri="{9D8B030D-6E8A-4147-A177-3AD203B41FA5}">
                      <a16:colId xmlns:a16="http://schemas.microsoft.com/office/drawing/2014/main" val="1479978619"/>
                    </a:ext>
                  </a:extLst>
                </a:gridCol>
                <a:gridCol w="2627741">
                  <a:extLst>
                    <a:ext uri="{9D8B030D-6E8A-4147-A177-3AD203B41FA5}">
                      <a16:colId xmlns:a16="http://schemas.microsoft.com/office/drawing/2014/main" val="20294840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Accesión </a:t>
                      </a:r>
                      <a:endParaRPr lang="es-PE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Origen </a:t>
                      </a:r>
                      <a:endParaRPr lang="es-PE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31864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OT-001</a:t>
                      </a:r>
                      <a:endParaRPr lang="es-PE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Cajamarca/Chota</a:t>
                      </a:r>
                      <a:endParaRPr lang="es-PE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0377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OT-002</a:t>
                      </a:r>
                      <a:endParaRPr lang="es-PE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Cajamarca/Chota</a:t>
                      </a:r>
                      <a:endParaRPr lang="es-PE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2027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OT-003</a:t>
                      </a:r>
                      <a:endParaRPr lang="es-PE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Cajamarca/Chota</a:t>
                      </a:r>
                      <a:endParaRPr lang="es-PE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3716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OT-004</a:t>
                      </a:r>
                      <a:endParaRPr lang="es-PE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PE" sz="1600" dirty="0">
                          <a:effectLst/>
                        </a:rPr>
                        <a:t>Cajamarca/Chota</a:t>
                      </a:r>
                      <a:endParaRPr lang="es-PE" sz="1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58466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PE" sz="1600" dirty="0">
                          <a:effectLst/>
                        </a:rPr>
                        <a:t>OT-005</a:t>
                      </a:r>
                      <a:endParaRPr lang="es-PE" sz="1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Cajamarca/Chota</a:t>
                      </a:r>
                      <a:endParaRPr lang="es-PE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5206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OT-006</a:t>
                      </a:r>
                      <a:endParaRPr lang="es-PE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PE" sz="1600" dirty="0">
                          <a:effectLst/>
                        </a:rPr>
                        <a:t>Amazonas/</a:t>
                      </a:r>
                      <a:r>
                        <a:rPr lang="es-PE" sz="1600" dirty="0" err="1">
                          <a:effectLst/>
                        </a:rPr>
                        <a:t>Molinopampa</a:t>
                      </a:r>
                      <a:endParaRPr lang="es-PE" sz="1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95787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OT-007</a:t>
                      </a:r>
                      <a:endParaRPr lang="es-PE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Cajamarca/Celendin</a:t>
                      </a:r>
                      <a:endParaRPr lang="es-PE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6509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OT-008</a:t>
                      </a:r>
                      <a:endParaRPr lang="es-PE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Cajamarca/Celendin</a:t>
                      </a:r>
                      <a:endParaRPr lang="es-PE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93948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OT-009</a:t>
                      </a:r>
                      <a:endParaRPr lang="es-PE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Cajamarca</a:t>
                      </a:r>
                      <a:endParaRPr lang="es-PE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50986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PE" sz="1600">
                          <a:effectLst/>
                        </a:rPr>
                        <a:t>OT-010</a:t>
                      </a:r>
                      <a:endParaRPr lang="es-PE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PE" sz="1600" dirty="0">
                          <a:effectLst/>
                        </a:rPr>
                        <a:t>Cajamarca/</a:t>
                      </a:r>
                      <a:endParaRPr lang="es-PE" sz="1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36765959"/>
                  </a:ext>
                </a:extLst>
              </a:tr>
            </a:tbl>
          </a:graphicData>
        </a:graphic>
      </p:graphicFrame>
      <p:sp>
        <p:nvSpPr>
          <p:cNvPr id="20" name="CuadroTexto 19">
            <a:extLst>
              <a:ext uri="{FF2B5EF4-FFF2-40B4-BE49-F238E27FC236}">
                <a16:creationId xmlns:a16="http://schemas.microsoft.com/office/drawing/2014/main" id="{93390D56-7032-4C89-9F93-8B34D7AD6238}"/>
              </a:ext>
            </a:extLst>
          </p:cNvPr>
          <p:cNvSpPr txBox="1"/>
          <p:nvPr/>
        </p:nvSpPr>
        <p:spPr>
          <a:xfrm>
            <a:off x="4424082" y="422700"/>
            <a:ext cx="6098240" cy="416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50000"/>
              </a:lnSpc>
              <a:spcAft>
                <a:spcPts val="800"/>
              </a:spcAft>
            </a:pPr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Diseño experimental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3E26A62E-DCDD-4DBE-9CCC-63C69719831F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3"/>
          <a:stretch/>
        </p:blipFill>
        <p:spPr bwMode="auto">
          <a:xfrm>
            <a:off x="4472388" y="839545"/>
            <a:ext cx="7428754" cy="43188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FAE2F2C2-1186-4BA8-9ECF-C751058979A4}"/>
              </a:ext>
            </a:extLst>
          </p:cNvPr>
          <p:cNvSpPr txBox="1"/>
          <p:nvPr/>
        </p:nvSpPr>
        <p:spPr>
          <a:xfrm>
            <a:off x="4472388" y="5286057"/>
            <a:ext cx="5852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just">
              <a:spcAft>
                <a:spcPts val="800"/>
              </a:spcAft>
            </a:pPr>
            <a:r>
              <a:rPr lang="es-PE" sz="12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Figura 1: </a:t>
            </a:r>
            <a:r>
              <a:rPr lang="es-PE" sz="12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Croquis del campo experimental. Distribución de los tratamientos bajo un diseño de bloques completos al azar (DBCA). </a:t>
            </a:r>
          </a:p>
        </p:txBody>
      </p:sp>
    </p:spTree>
    <p:extLst>
      <p:ext uri="{BB962C8B-B14F-4D97-AF65-F5344CB8AC3E}">
        <p14:creationId xmlns:p14="http://schemas.microsoft.com/office/powerpoint/2010/main" val="271801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203"/>
    </mc:Choice>
    <mc:Fallback xmlns="">
      <p:transition spd="slow" advTm="2520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44838CEC-D1FD-4A54-A1C0-5CBA7B46A5F1}"/>
              </a:ext>
            </a:extLst>
          </p:cNvPr>
          <p:cNvGrpSpPr/>
          <p:nvPr/>
        </p:nvGrpSpPr>
        <p:grpSpPr>
          <a:xfrm>
            <a:off x="0" y="6425184"/>
            <a:ext cx="12192000" cy="432816"/>
            <a:chOff x="0" y="6425184"/>
            <a:chExt cx="12192000" cy="432816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17AF3DE7-9F3C-44F5-9ACE-C9B0586D78AB}"/>
                </a:ext>
              </a:extLst>
            </p:cNvPr>
            <p:cNvGrpSpPr/>
            <p:nvPr/>
          </p:nvGrpSpPr>
          <p:grpSpPr>
            <a:xfrm>
              <a:off x="0" y="6425184"/>
              <a:ext cx="12192000" cy="432816"/>
              <a:chOff x="0" y="6425184"/>
              <a:chExt cx="12192000" cy="432816"/>
            </a:xfrm>
          </p:grpSpPr>
          <p:pic>
            <p:nvPicPr>
              <p:cNvPr id="3" name="Imagen 2">
                <a:extLst>
                  <a:ext uri="{FF2B5EF4-FFF2-40B4-BE49-F238E27FC236}">
                    <a16:creationId xmlns:a16="http://schemas.microsoft.com/office/drawing/2014/main" id="{1CD463B4-5C82-40C6-A008-4498FC6F84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6425184"/>
                <a:ext cx="12192000" cy="432816"/>
              </a:xfrm>
              <a:prstGeom prst="rect">
                <a:avLst/>
              </a:prstGeom>
            </p:spPr>
          </p:pic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B5912D8-F84B-4282-AC9D-33B098C6CC25}"/>
                  </a:ext>
                </a:extLst>
              </p:cNvPr>
              <p:cNvSpPr txBox="1"/>
              <p:nvPr/>
            </p:nvSpPr>
            <p:spPr>
              <a:xfrm>
                <a:off x="11688416" y="6472315"/>
                <a:ext cx="5035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400" b="1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7</a:t>
                </a:r>
                <a:endParaRPr lang="es-PE" sz="1400" b="1" dirty="0">
                  <a:solidFill>
                    <a:schemeClr val="bg1"/>
                  </a:solidFill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5CBD84E6-AF7A-4E96-B834-A298EA9AD359}"/>
                </a:ext>
              </a:extLst>
            </p:cNvPr>
            <p:cNvSpPr/>
            <p:nvPr/>
          </p:nvSpPr>
          <p:spPr>
            <a:xfrm>
              <a:off x="1178884" y="6517201"/>
              <a:ext cx="89855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MX" sz="14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TÉSIS I</a:t>
              </a: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09444480-995B-4731-B03A-F2C747447C50}"/>
              </a:ext>
            </a:extLst>
          </p:cNvPr>
          <p:cNvSpPr txBox="1"/>
          <p:nvPr/>
        </p:nvSpPr>
        <p:spPr>
          <a:xfrm>
            <a:off x="-561413" y="162911"/>
            <a:ext cx="4300050" cy="457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50000"/>
              </a:lnSpc>
              <a:spcAft>
                <a:spcPts val="800"/>
              </a:spcAft>
            </a:pPr>
            <a:r>
              <a:rPr lang="es-PE" b="1" u="sng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Establecimiento del cultivo</a:t>
            </a:r>
            <a:endParaRPr lang="es-PE" u="sng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3237240-3D7E-4C37-A802-FCAB0A8A058A}"/>
              </a:ext>
            </a:extLst>
          </p:cNvPr>
          <p:cNvSpPr txBox="1"/>
          <p:nvPr/>
        </p:nvSpPr>
        <p:spPr>
          <a:xfrm>
            <a:off x="251793" y="894973"/>
            <a:ext cx="3232912" cy="25340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628650" indent="-171450" algn="just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s-PE" sz="14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Análisis de suelo</a:t>
            </a:r>
            <a:endParaRPr lang="es-PE" sz="14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28650" indent="-171450" algn="just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s-PE" sz="14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Preparación del terreno</a:t>
            </a:r>
            <a:endParaRPr lang="es-PE" sz="14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28650" indent="-171450" algn="just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s-PE" sz="14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Siembra</a:t>
            </a:r>
            <a:endParaRPr lang="es-PE" sz="14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28650" indent="-171450" algn="just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s-PE" sz="14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Fertilización</a:t>
            </a:r>
            <a:endParaRPr lang="es-PE" sz="14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28650" indent="-171450" algn="just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s-PE" sz="14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Deshierbe y aporque</a:t>
            </a:r>
            <a:endParaRPr lang="es-PE" sz="14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28650" indent="-171450" algn="just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s-PE" sz="14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Riego por secano</a:t>
            </a:r>
            <a:endParaRPr lang="es-PE" sz="14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28650" indent="-171450" algn="just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s-PE" sz="14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Control fitosanitario</a:t>
            </a:r>
            <a:endParaRPr lang="es-PE" sz="14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28650" indent="-171450" algn="just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s-PE" sz="14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Cosecha</a:t>
            </a:r>
            <a:endParaRPr lang="es-PE" sz="14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933B07C-C990-44D2-B50A-25E84F058761}"/>
              </a:ext>
            </a:extLst>
          </p:cNvPr>
          <p:cNvSpPr txBox="1"/>
          <p:nvPr/>
        </p:nvSpPr>
        <p:spPr>
          <a:xfrm>
            <a:off x="3738637" y="94322"/>
            <a:ext cx="8201570" cy="33137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2" algn="just"/>
            <a:r>
              <a:rPr lang="es-PE" b="1" u="sng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Evaluación de las variables</a:t>
            </a:r>
          </a:p>
          <a:p>
            <a:pPr lvl="2" algn="just"/>
            <a:endParaRPr lang="es-PE" sz="1600" u="sng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3" algn="just">
              <a:spcAft>
                <a:spcPts val="800"/>
              </a:spcAft>
            </a:pPr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Evaluación de las variables morfológicas y fenológicas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630555" algn="just">
              <a:spcAft>
                <a:spcPts val="800"/>
              </a:spcAft>
            </a:pPr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Altura de planta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0555" algn="just">
              <a:spcAft>
                <a:spcPts val="800"/>
              </a:spcAft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altura de planta se registrará de 10 plantas en plena floración desde la base del tallo hasta las yemas apicales, </a:t>
            </a:r>
            <a:r>
              <a:rPr lang="es-PE" sz="1600" dirty="0" err="1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clasificandola</a:t>
            </a: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como pequeña (&lt;40 cm), intermedia (40 – 60 cm) y alta (&gt;60 cm) (IPGRI/CIP, 1997a).</a:t>
            </a:r>
          </a:p>
          <a:p>
            <a:pPr indent="630555" algn="just">
              <a:spcAft>
                <a:spcPts val="800"/>
              </a:spcAft>
            </a:pPr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Número de brotes por planta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0555" algn="just">
              <a:spcAft>
                <a:spcPts val="800"/>
              </a:spcAft>
            </a:pPr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 de los tallos aéreos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0555" algn="just">
              <a:spcAft>
                <a:spcPts val="800"/>
              </a:spcAft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color de los tallos aéreos será registrado en 10 plantas y clasificado de acuerdo a lo propuesto en el descriptor de oca (IPGRI/CIP, 1997a).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FDBC3BB-A22C-41DE-8AB5-E6D673EBC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925" y="3588024"/>
            <a:ext cx="2687712" cy="2550933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FED7A4F-289A-43AB-B089-81CE803D6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0178" y="3520410"/>
            <a:ext cx="2782943" cy="283631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C6A3189-4944-42CE-994D-954E092DBA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4662" y="3596377"/>
            <a:ext cx="2708401" cy="254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838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086"/>
    </mc:Choice>
    <mc:Fallback xmlns="">
      <p:transition spd="slow" advTm="4408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44838CEC-D1FD-4A54-A1C0-5CBA7B46A5F1}"/>
              </a:ext>
            </a:extLst>
          </p:cNvPr>
          <p:cNvGrpSpPr/>
          <p:nvPr/>
        </p:nvGrpSpPr>
        <p:grpSpPr>
          <a:xfrm>
            <a:off x="0" y="6425184"/>
            <a:ext cx="12192000" cy="432816"/>
            <a:chOff x="0" y="6425184"/>
            <a:chExt cx="12192000" cy="432816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17AF3DE7-9F3C-44F5-9ACE-C9B0586D78AB}"/>
                </a:ext>
              </a:extLst>
            </p:cNvPr>
            <p:cNvGrpSpPr/>
            <p:nvPr/>
          </p:nvGrpSpPr>
          <p:grpSpPr>
            <a:xfrm>
              <a:off x="0" y="6425184"/>
              <a:ext cx="12192000" cy="432816"/>
              <a:chOff x="0" y="6425184"/>
              <a:chExt cx="12192000" cy="432816"/>
            </a:xfrm>
          </p:grpSpPr>
          <p:pic>
            <p:nvPicPr>
              <p:cNvPr id="3" name="Imagen 2">
                <a:extLst>
                  <a:ext uri="{FF2B5EF4-FFF2-40B4-BE49-F238E27FC236}">
                    <a16:creationId xmlns:a16="http://schemas.microsoft.com/office/drawing/2014/main" id="{1CD463B4-5C82-40C6-A008-4498FC6F84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6425184"/>
                <a:ext cx="12192000" cy="432816"/>
              </a:xfrm>
              <a:prstGeom prst="rect">
                <a:avLst/>
              </a:prstGeom>
            </p:spPr>
          </p:pic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B5912D8-F84B-4282-AC9D-33B098C6CC25}"/>
                  </a:ext>
                </a:extLst>
              </p:cNvPr>
              <p:cNvSpPr txBox="1"/>
              <p:nvPr/>
            </p:nvSpPr>
            <p:spPr>
              <a:xfrm>
                <a:off x="11688416" y="6472315"/>
                <a:ext cx="5035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400" b="1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8</a:t>
                </a:r>
                <a:endParaRPr lang="es-PE" sz="1400" b="1" dirty="0">
                  <a:solidFill>
                    <a:schemeClr val="bg1"/>
                  </a:solidFill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5CBD84E6-AF7A-4E96-B834-A298EA9AD359}"/>
                </a:ext>
              </a:extLst>
            </p:cNvPr>
            <p:cNvSpPr/>
            <p:nvPr/>
          </p:nvSpPr>
          <p:spPr>
            <a:xfrm>
              <a:off x="1178884" y="6517201"/>
              <a:ext cx="89855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MX" sz="14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TÉSIS I</a:t>
              </a: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614A30F9-33B5-46DC-A8EA-62BE2CC6FC47}"/>
              </a:ext>
            </a:extLst>
          </p:cNvPr>
          <p:cNvSpPr txBox="1"/>
          <p:nvPr/>
        </p:nvSpPr>
        <p:spPr>
          <a:xfrm>
            <a:off x="6410435" y="0"/>
            <a:ext cx="5629835" cy="51296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630555" algn="ctr">
              <a:spcAft>
                <a:spcPts val="800"/>
              </a:spcAft>
            </a:pPr>
            <a:r>
              <a:rPr lang="es-PE" b="1" u="sng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Evaluación de las variables nutricionales</a:t>
            </a:r>
          </a:p>
          <a:p>
            <a:pPr marL="916305" indent="-285750" algn="just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Contenido de azúcares totales y almidón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0555" algn="just">
              <a:spcAft>
                <a:spcPts val="800"/>
              </a:spcAft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Los azúcares totales y almidón se determinarán utilizando el método de la </a:t>
            </a:r>
            <a:r>
              <a:rPr lang="es-PE" sz="1600" dirty="0" err="1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antrona</a:t>
            </a: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como lo describe </a:t>
            </a:r>
            <a:r>
              <a:rPr lang="es-PE" sz="1600" dirty="0" err="1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Chow</a:t>
            </a: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&amp; </a:t>
            </a:r>
            <a:r>
              <a:rPr lang="es-PE" sz="1600" dirty="0" err="1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Landhausser</a:t>
            </a: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(2004).</a:t>
            </a:r>
          </a:p>
          <a:p>
            <a:pPr marL="916305" indent="-285750" algn="just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Contenido de aminoácidos totales  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0555" algn="just">
              <a:spcAft>
                <a:spcPts val="800"/>
              </a:spcAft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determinación de aminoácidos totales se realizará utilizando el método de la ninhidrina como lo describe </a:t>
            </a:r>
            <a:r>
              <a:rPr lang="es-PE" sz="1600" dirty="0" err="1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Yemm</a:t>
            </a: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 al., (1955)</a:t>
            </a:r>
          </a:p>
          <a:p>
            <a:pPr marL="916305" indent="-285750" algn="just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Contenido de proteína total 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0555" algn="just">
              <a:spcAft>
                <a:spcPts val="800"/>
              </a:spcAft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contenido de proteínas totales se determinará utilizando el procedimiento establecido por (Bradford, 1976).</a:t>
            </a:r>
          </a:p>
          <a:p>
            <a:pPr marL="916305" indent="-285750" algn="just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Contenido de fenoles totales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0555" algn="just">
              <a:spcAft>
                <a:spcPts val="800"/>
              </a:spcAft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Los fenoles totales se determinarán utilizando el reactivo </a:t>
            </a:r>
            <a:r>
              <a:rPr lang="es-PE" sz="1600" dirty="0" err="1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Folin</a:t>
            </a: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lang="es-PE" sz="1600" dirty="0" err="1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Ciocalteu</a:t>
            </a: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como lo describen Ainsworth &amp; Gillespie, (2007).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5841CBD-B952-4D74-B4B6-A181B46B2192}"/>
              </a:ext>
            </a:extLst>
          </p:cNvPr>
          <p:cNvSpPr txBox="1"/>
          <p:nvPr/>
        </p:nvSpPr>
        <p:spPr>
          <a:xfrm>
            <a:off x="99730" y="0"/>
            <a:ext cx="6462434" cy="32726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lvl="3">
              <a:spcAft>
                <a:spcPts val="800"/>
              </a:spcAft>
            </a:pPr>
            <a:r>
              <a:rPr lang="es-PE" b="1" u="sng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Evaluación de las variables fisiológicas</a:t>
            </a:r>
            <a:endParaRPr lang="es-PE" u="sng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0555">
              <a:spcAft>
                <a:spcPts val="800"/>
              </a:spcAft>
            </a:pPr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Contenido de clorofila a y b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0555">
              <a:spcAft>
                <a:spcPts val="800"/>
              </a:spcAft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Clorofila a (</a:t>
            </a:r>
            <a:r>
              <a:rPr lang="es-PE" sz="1600" dirty="0" err="1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Chl</a:t>
            </a: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a) (μg/</a:t>
            </a:r>
            <a:r>
              <a:rPr lang="es-PE" sz="1600" dirty="0" err="1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</a:t>
            </a: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= 13.36 A664 – 5.19 A649</a:t>
            </a:r>
          </a:p>
          <a:p>
            <a:pPr marL="630555">
              <a:spcAft>
                <a:spcPts val="800"/>
              </a:spcAft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Clorofila b (</a:t>
            </a:r>
            <a:r>
              <a:rPr lang="es-PE" sz="1600" dirty="0" err="1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Chl</a:t>
            </a: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b) (μg/</a:t>
            </a:r>
            <a:r>
              <a:rPr lang="es-PE" sz="1600" dirty="0" err="1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</a:t>
            </a: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= 27.43 A649 – 8.12 A664  </a:t>
            </a:r>
          </a:p>
          <a:p>
            <a:pPr marL="630555">
              <a:spcAft>
                <a:spcPts val="800"/>
              </a:spcAft>
            </a:pPr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Contenido de carotenoides totales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0555">
              <a:spcAft>
                <a:spcPts val="800"/>
              </a:spcAft>
            </a:pP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evaluar el contenido de carotenoides totales se utilizará la siguiente fórmula (</a:t>
            </a:r>
            <a:r>
              <a:rPr lang="es-PE" sz="1600" dirty="0" err="1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Lichtenthaler</a:t>
            </a: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1987):</a:t>
            </a:r>
          </a:p>
          <a:p>
            <a:pPr marL="630555">
              <a:spcAft>
                <a:spcPts val="800"/>
              </a:spcAft>
            </a:pPr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Fotosíntesis neta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0555">
              <a:spcAft>
                <a:spcPts val="800"/>
              </a:spcAft>
            </a:pPr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Fluorescencia de la clorofila a</a:t>
            </a:r>
            <a:b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PE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(Medeiros et al., 2017)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08B2698-952D-4C74-8181-3F985BA12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884" y="3429000"/>
            <a:ext cx="2158999" cy="287866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AE022F5-5882-4236-85FC-4FDEED13E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382" y="3504753"/>
            <a:ext cx="2102185" cy="280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56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191"/>
    </mc:Choice>
    <mc:Fallback xmlns="">
      <p:transition spd="slow" advTm="5019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44838CEC-D1FD-4A54-A1C0-5CBA7B46A5F1}"/>
              </a:ext>
            </a:extLst>
          </p:cNvPr>
          <p:cNvGrpSpPr/>
          <p:nvPr/>
        </p:nvGrpSpPr>
        <p:grpSpPr>
          <a:xfrm>
            <a:off x="0" y="6425184"/>
            <a:ext cx="12192000" cy="432816"/>
            <a:chOff x="0" y="6425184"/>
            <a:chExt cx="12192000" cy="432816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17AF3DE7-9F3C-44F5-9ACE-C9B0586D78AB}"/>
                </a:ext>
              </a:extLst>
            </p:cNvPr>
            <p:cNvGrpSpPr/>
            <p:nvPr/>
          </p:nvGrpSpPr>
          <p:grpSpPr>
            <a:xfrm>
              <a:off x="0" y="6425184"/>
              <a:ext cx="12192000" cy="432816"/>
              <a:chOff x="0" y="6425184"/>
              <a:chExt cx="12192000" cy="432816"/>
            </a:xfrm>
          </p:grpSpPr>
          <p:pic>
            <p:nvPicPr>
              <p:cNvPr id="3" name="Imagen 2">
                <a:extLst>
                  <a:ext uri="{FF2B5EF4-FFF2-40B4-BE49-F238E27FC236}">
                    <a16:creationId xmlns:a16="http://schemas.microsoft.com/office/drawing/2014/main" id="{1CD463B4-5C82-40C6-A008-4498FC6F84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6425184"/>
                <a:ext cx="12192000" cy="432816"/>
              </a:xfrm>
              <a:prstGeom prst="rect">
                <a:avLst/>
              </a:prstGeom>
            </p:spPr>
          </p:pic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B5912D8-F84B-4282-AC9D-33B098C6CC25}"/>
                  </a:ext>
                </a:extLst>
              </p:cNvPr>
              <p:cNvSpPr txBox="1"/>
              <p:nvPr/>
            </p:nvSpPr>
            <p:spPr>
              <a:xfrm>
                <a:off x="11688416" y="6472315"/>
                <a:ext cx="5035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400" b="1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9</a:t>
                </a:r>
                <a:endParaRPr lang="es-PE" sz="1400" b="1" dirty="0">
                  <a:solidFill>
                    <a:schemeClr val="bg1"/>
                  </a:solidFill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5CBD84E6-AF7A-4E96-B834-A298EA9AD359}"/>
                </a:ext>
              </a:extLst>
            </p:cNvPr>
            <p:cNvSpPr/>
            <p:nvPr/>
          </p:nvSpPr>
          <p:spPr>
            <a:xfrm>
              <a:off x="1178884" y="6517201"/>
              <a:ext cx="89855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MX" sz="14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TÉSIS I</a:t>
              </a:r>
            </a:p>
          </p:txBody>
        </p:sp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8D3BEFE-14B8-400A-9EA4-6AA43E4FBBCA}"/>
              </a:ext>
            </a:extLst>
          </p:cNvPr>
          <p:cNvSpPr txBox="1"/>
          <p:nvPr/>
        </p:nvSpPr>
        <p:spPr>
          <a:xfrm>
            <a:off x="373157" y="372078"/>
            <a:ext cx="5556996" cy="57861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MX" b="1" u="sng" dirty="0">
                <a:latin typeface="Georgia" panose="02040502050405020303" pitchFamily="18" charset="0"/>
              </a:rPr>
              <a:t>Estudio molecular del genoma </a:t>
            </a:r>
            <a:r>
              <a:rPr lang="es-MX" b="1" u="sng" dirty="0" err="1">
                <a:latin typeface="Georgia" panose="02040502050405020303" pitchFamily="18" charset="0"/>
              </a:rPr>
              <a:t>cloroplastidial</a:t>
            </a:r>
            <a:endParaRPr lang="es-MX" b="1" u="sng" dirty="0">
              <a:latin typeface="Georgia" panose="02040502050405020303" pitchFamily="18" charset="0"/>
            </a:endParaRPr>
          </a:p>
          <a:p>
            <a:endParaRPr lang="es-MX" sz="1600" b="1" dirty="0">
              <a:latin typeface="Georgia" panose="02040502050405020303" pitchFamily="18" charset="0"/>
            </a:endParaRPr>
          </a:p>
          <a:p>
            <a:r>
              <a:rPr lang="es-MX" sz="1600" dirty="0">
                <a:latin typeface="Georgia" panose="02040502050405020303" pitchFamily="18" charset="0"/>
              </a:rPr>
              <a:t>Extracción y cuantificación del ADN</a:t>
            </a:r>
          </a:p>
          <a:p>
            <a:endParaRPr lang="es-MX" sz="1600" dirty="0">
              <a:latin typeface="Georgia" panose="0204050205040502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>
                <a:latin typeface="Georgia" panose="02040502050405020303" pitchFamily="18" charset="0"/>
              </a:rPr>
              <a:t>Se extrae el ADN total con el método CTAB.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>
                <a:latin typeface="Georgia" panose="02040502050405020303" pitchFamily="18" charset="0"/>
              </a:rPr>
              <a:t>Se evalúa su pureza con </a:t>
            </a:r>
            <a:r>
              <a:rPr lang="es-MX" sz="1600" dirty="0" err="1">
                <a:latin typeface="Georgia" panose="02040502050405020303" pitchFamily="18" charset="0"/>
              </a:rPr>
              <a:t>Nanodrop</a:t>
            </a:r>
            <a:r>
              <a:rPr lang="es-MX" sz="1600" dirty="0">
                <a:latin typeface="Georgia" panose="02040502050405020303" pitchFamily="18" charset="0"/>
              </a:rPr>
              <a:t> y su cantidad con el </a:t>
            </a:r>
            <a:r>
              <a:rPr lang="es-MX" sz="1600" dirty="0" err="1">
                <a:latin typeface="Georgia" panose="02040502050405020303" pitchFamily="18" charset="0"/>
              </a:rPr>
              <a:t>fluorómetro</a:t>
            </a:r>
            <a:r>
              <a:rPr lang="es-MX" sz="1600" dirty="0">
                <a:latin typeface="Georgia" panose="02040502050405020303" pitchFamily="18" charset="0"/>
              </a:rPr>
              <a:t> </a:t>
            </a:r>
            <a:r>
              <a:rPr lang="es-MX" sz="1600" dirty="0" err="1">
                <a:latin typeface="Georgia" panose="02040502050405020303" pitchFamily="18" charset="0"/>
              </a:rPr>
              <a:t>Qubit</a:t>
            </a:r>
            <a:r>
              <a:rPr lang="es-MX" sz="1600" dirty="0">
                <a:latin typeface="Georgia" panose="02040502050405020303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>
                <a:latin typeface="Georgia" panose="02040502050405020303" pitchFamily="18" charset="0"/>
              </a:rPr>
              <a:t>Se hace una electroforesis para verificar calidad.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>
                <a:latin typeface="Georgia" panose="02040502050405020303" pitchFamily="18" charset="0"/>
              </a:rPr>
              <a:t>Como solo un 5 % del ADN es del cloroplasto, se enriquece esta fracción usando un kit especial (NEB).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latin typeface="Georgia" panose="02040502050405020303" pitchFamily="18" charset="0"/>
            </a:endParaRPr>
          </a:p>
          <a:p>
            <a:r>
              <a:rPr lang="es-MX" sz="1600" dirty="0">
                <a:latin typeface="Georgia" panose="02040502050405020303" pitchFamily="18" charset="0"/>
              </a:rPr>
              <a:t>Preparación de librería y secuenciación</a:t>
            </a:r>
          </a:p>
          <a:p>
            <a:endParaRPr lang="es-MX" sz="1600" dirty="0">
              <a:latin typeface="Georgia" panose="0204050205040502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>
                <a:latin typeface="Georgia" panose="02040502050405020303" pitchFamily="18" charset="0"/>
              </a:rPr>
              <a:t>Se prepara la muestra para secuenciar con Oxford </a:t>
            </a:r>
            <a:r>
              <a:rPr lang="es-MX" sz="1600" dirty="0" err="1">
                <a:latin typeface="Georgia" panose="02040502050405020303" pitchFamily="18" charset="0"/>
              </a:rPr>
              <a:t>Nanopore</a:t>
            </a:r>
            <a:r>
              <a:rPr lang="es-MX" sz="1600" dirty="0">
                <a:latin typeface="Georgia" panose="02040502050405020303" pitchFamily="18" charset="0"/>
              </a:rPr>
              <a:t> (ONT).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>
                <a:latin typeface="Georgia" panose="02040502050405020303" pitchFamily="18" charset="0"/>
              </a:rPr>
              <a:t>Se utiliza el secuenciador </a:t>
            </a:r>
            <a:r>
              <a:rPr lang="es-MX" sz="1600" dirty="0" err="1">
                <a:latin typeface="Georgia" panose="02040502050405020303" pitchFamily="18" charset="0"/>
              </a:rPr>
              <a:t>PromethION</a:t>
            </a:r>
            <a:r>
              <a:rPr lang="es-MX" sz="1600" dirty="0">
                <a:latin typeface="Georgia" panose="02040502050405020303" pitchFamily="18" charset="0"/>
              </a:rPr>
              <a:t> P2 Solo, que permite leer moléculas de ADN largas.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>
                <a:latin typeface="Georgia" panose="02040502050405020303" pitchFamily="18" charset="0"/>
              </a:rPr>
              <a:t>Se aplican herramientas como: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dirty="0" err="1">
                <a:latin typeface="Georgia" panose="02040502050405020303" pitchFamily="18" charset="0"/>
              </a:rPr>
              <a:t>duplex_tools</a:t>
            </a:r>
            <a:r>
              <a:rPr lang="es-MX" sz="1600" dirty="0">
                <a:latin typeface="Georgia" panose="02040502050405020303" pitchFamily="18" charset="0"/>
              </a:rPr>
              <a:t> para mejorar la calidad (lecturas dúplex Q30).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Georgia" panose="02040502050405020303" pitchFamily="18" charset="0"/>
              </a:rPr>
              <a:t>Dorado para traducir las señales en secuencias con alta precisión.</a:t>
            </a:r>
          </a:p>
          <a:p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</a:rPr>
              <a:t>(Li, 2018).</a:t>
            </a:r>
            <a:endParaRPr lang="es-MX" sz="1600" dirty="0">
              <a:latin typeface="Georgia" panose="02040502050405020303" pitchFamily="18" charset="0"/>
            </a:endParaRP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F919F214-72F7-4343-AAEA-DA8271279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262" y="167341"/>
            <a:ext cx="2849656" cy="3799541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0D74E783-D713-4179-90EB-4E80F056F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085" y="2822930"/>
            <a:ext cx="2370758" cy="316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6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191"/>
    </mc:Choice>
    <mc:Fallback xmlns="">
      <p:transition spd="slow" advTm="5019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44838CEC-D1FD-4A54-A1C0-5CBA7B46A5F1}"/>
              </a:ext>
            </a:extLst>
          </p:cNvPr>
          <p:cNvGrpSpPr/>
          <p:nvPr/>
        </p:nvGrpSpPr>
        <p:grpSpPr>
          <a:xfrm>
            <a:off x="0" y="6425184"/>
            <a:ext cx="12192000" cy="432816"/>
            <a:chOff x="0" y="6425184"/>
            <a:chExt cx="12192000" cy="432816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17AF3DE7-9F3C-44F5-9ACE-C9B0586D78AB}"/>
                </a:ext>
              </a:extLst>
            </p:cNvPr>
            <p:cNvGrpSpPr/>
            <p:nvPr/>
          </p:nvGrpSpPr>
          <p:grpSpPr>
            <a:xfrm>
              <a:off x="0" y="6425184"/>
              <a:ext cx="12192000" cy="432816"/>
              <a:chOff x="0" y="6425184"/>
              <a:chExt cx="12192000" cy="432816"/>
            </a:xfrm>
          </p:grpSpPr>
          <p:pic>
            <p:nvPicPr>
              <p:cNvPr id="3" name="Imagen 2">
                <a:extLst>
                  <a:ext uri="{FF2B5EF4-FFF2-40B4-BE49-F238E27FC236}">
                    <a16:creationId xmlns:a16="http://schemas.microsoft.com/office/drawing/2014/main" id="{1CD463B4-5C82-40C6-A008-4498FC6F84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6425184"/>
                <a:ext cx="12192000" cy="432816"/>
              </a:xfrm>
              <a:prstGeom prst="rect">
                <a:avLst/>
              </a:prstGeom>
            </p:spPr>
          </p:pic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B5912D8-F84B-4282-AC9D-33B098C6CC25}"/>
                  </a:ext>
                </a:extLst>
              </p:cNvPr>
              <p:cNvSpPr txBox="1"/>
              <p:nvPr/>
            </p:nvSpPr>
            <p:spPr>
              <a:xfrm>
                <a:off x="11688416" y="6472315"/>
                <a:ext cx="5035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400" b="1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10</a:t>
                </a:r>
                <a:endParaRPr lang="es-PE" sz="1400" b="1" dirty="0">
                  <a:solidFill>
                    <a:schemeClr val="bg1"/>
                  </a:solidFill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5CBD84E6-AF7A-4E96-B834-A298EA9AD359}"/>
                </a:ext>
              </a:extLst>
            </p:cNvPr>
            <p:cNvSpPr/>
            <p:nvPr/>
          </p:nvSpPr>
          <p:spPr>
            <a:xfrm>
              <a:off x="1178884" y="6517201"/>
              <a:ext cx="89855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MX" sz="14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TÉSIS I</a:t>
              </a: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A5D4DB3E-7BAB-407D-873D-FB9C391BD04A}"/>
              </a:ext>
            </a:extLst>
          </p:cNvPr>
          <p:cNvSpPr txBox="1"/>
          <p:nvPr/>
        </p:nvSpPr>
        <p:spPr>
          <a:xfrm>
            <a:off x="413498" y="214675"/>
            <a:ext cx="6098240" cy="1119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50000"/>
              </a:lnSpc>
              <a:spcAft>
                <a:spcPts val="800"/>
              </a:spcAft>
            </a:pPr>
            <a:r>
              <a:rPr lang="es-PE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Cronograma</a:t>
            </a:r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s-PE" sz="1600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PE" sz="1600" b="1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Tabla 4: </a:t>
            </a:r>
            <a:r>
              <a:rPr lang="es-PE" sz="16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Periodo del tiempo en el que se realizará la investigación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0D2CAC7-84B6-44CB-8CD9-0D882AE24CC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299219" y="1315220"/>
            <a:ext cx="9364299" cy="485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246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191"/>
    </mc:Choice>
    <mc:Fallback xmlns="">
      <p:transition spd="slow" advTm="5019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44838CEC-D1FD-4A54-A1C0-5CBA7B46A5F1}"/>
              </a:ext>
            </a:extLst>
          </p:cNvPr>
          <p:cNvGrpSpPr/>
          <p:nvPr/>
        </p:nvGrpSpPr>
        <p:grpSpPr>
          <a:xfrm>
            <a:off x="0" y="6425184"/>
            <a:ext cx="12192000" cy="432816"/>
            <a:chOff x="0" y="6425184"/>
            <a:chExt cx="12192000" cy="432816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17AF3DE7-9F3C-44F5-9ACE-C9B0586D78AB}"/>
                </a:ext>
              </a:extLst>
            </p:cNvPr>
            <p:cNvGrpSpPr/>
            <p:nvPr/>
          </p:nvGrpSpPr>
          <p:grpSpPr>
            <a:xfrm>
              <a:off x="0" y="6425184"/>
              <a:ext cx="12192000" cy="432816"/>
              <a:chOff x="0" y="6425184"/>
              <a:chExt cx="12192000" cy="432816"/>
            </a:xfrm>
          </p:grpSpPr>
          <p:pic>
            <p:nvPicPr>
              <p:cNvPr id="3" name="Imagen 2">
                <a:extLst>
                  <a:ext uri="{FF2B5EF4-FFF2-40B4-BE49-F238E27FC236}">
                    <a16:creationId xmlns:a16="http://schemas.microsoft.com/office/drawing/2014/main" id="{1CD463B4-5C82-40C6-A008-4498FC6F84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6425184"/>
                <a:ext cx="12192000" cy="432816"/>
              </a:xfrm>
              <a:prstGeom prst="rect">
                <a:avLst/>
              </a:prstGeom>
            </p:spPr>
          </p:pic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B5912D8-F84B-4282-AC9D-33B098C6CC25}"/>
                  </a:ext>
                </a:extLst>
              </p:cNvPr>
              <p:cNvSpPr txBox="1"/>
              <p:nvPr/>
            </p:nvSpPr>
            <p:spPr>
              <a:xfrm>
                <a:off x="11688416" y="6472315"/>
                <a:ext cx="5035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400" b="1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11</a:t>
                </a:r>
                <a:endParaRPr lang="es-PE" sz="1400" b="1" dirty="0">
                  <a:solidFill>
                    <a:schemeClr val="bg1"/>
                  </a:solidFill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5CBD84E6-AF7A-4E96-B834-A298EA9AD359}"/>
                </a:ext>
              </a:extLst>
            </p:cNvPr>
            <p:cNvSpPr/>
            <p:nvPr/>
          </p:nvSpPr>
          <p:spPr>
            <a:xfrm>
              <a:off x="1178884" y="6517201"/>
              <a:ext cx="89855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MX" sz="14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TÉSIS I</a:t>
              </a: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3DC61191-F958-476E-AF58-C88F137BAFED}"/>
              </a:ext>
            </a:extLst>
          </p:cNvPr>
          <p:cNvSpPr txBox="1"/>
          <p:nvPr/>
        </p:nvSpPr>
        <p:spPr>
          <a:xfrm>
            <a:off x="400051" y="514607"/>
            <a:ext cx="609824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>
                <a:latin typeface="Georgia" panose="02040502050405020303" pitchFamily="18" charset="0"/>
              </a:rPr>
              <a:t>Análisis estadístico de datos morfológicos, fisiológicos y bioquímicos</a:t>
            </a:r>
          </a:p>
          <a:p>
            <a:pPr algn="just"/>
            <a:endParaRPr lang="es-MX" sz="1600" b="1" dirty="0">
              <a:latin typeface="Georgia" panose="020405020504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dirty="0">
                <a:latin typeface="Georgia" panose="02040502050405020303" pitchFamily="18" charset="0"/>
              </a:rPr>
              <a:t>Se aplicará ANOVA para detectar diferencias significativas entre accesiones.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dirty="0">
                <a:latin typeface="Georgia" panose="02040502050405020303" pitchFamily="18" charset="0"/>
              </a:rPr>
              <a:t>Luego se hará una prueba de Tukey (significancia del 5 %) para comparar medias.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MX" sz="1600" dirty="0">
              <a:latin typeface="Georgia" panose="02040502050405020303" pitchFamily="18" charset="0"/>
            </a:endParaRPr>
          </a:p>
          <a:p>
            <a:pPr algn="just"/>
            <a:r>
              <a:rPr lang="es-MX" sz="1600" dirty="0">
                <a:latin typeface="Georgia" panose="02040502050405020303" pitchFamily="18" charset="0"/>
              </a:rPr>
              <a:t>Análisis multivariado (PCA y agrupamiento)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dirty="0">
                <a:latin typeface="Georgia" panose="02040502050405020303" pitchFamily="18" charset="0"/>
              </a:rPr>
              <a:t>Se usará PCA (análisis de componentes principales) para explorar la variación fenotípica.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dirty="0">
                <a:latin typeface="Georgia" panose="02040502050405020303" pitchFamily="18" charset="0"/>
              </a:rPr>
              <a:t>También se hará un análisis de agrupamiento para clasificar las accesiones por similitud.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MX" sz="1600" dirty="0">
              <a:latin typeface="Georgia" panose="02040502050405020303" pitchFamily="18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FE999CC-74DA-4AE7-AC53-E65E2CF858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587"/>
          <a:stretch/>
        </p:blipFill>
        <p:spPr>
          <a:xfrm>
            <a:off x="8036277" y="0"/>
            <a:ext cx="4172532" cy="340877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AE2175D-5AF5-4676-BDD3-B131987B53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744"/>
          <a:stretch/>
        </p:blipFill>
        <p:spPr>
          <a:xfrm>
            <a:off x="8036277" y="3408772"/>
            <a:ext cx="4172532" cy="303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795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191"/>
    </mc:Choice>
    <mc:Fallback xmlns="">
      <p:transition spd="slow" advTm="5019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E66C69D5-F5E4-4BFA-B3C3-834B41295AFE}"/>
              </a:ext>
            </a:extLst>
          </p:cNvPr>
          <p:cNvSpPr txBox="1"/>
          <p:nvPr/>
        </p:nvSpPr>
        <p:spPr>
          <a:xfrm>
            <a:off x="497541" y="512971"/>
            <a:ext cx="11196917" cy="5997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REFERENCIAS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Ainsworth, E. A., &amp; Gillespie, K. M. (2007). Estimation of total phenolic content and other oxidation substrates in plant tissues using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Folin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Ciocalteu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reagent.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Nature Protocols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(4), 875–877. https://doi.org/10.1038/nprot.2007.102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Alghamdi, B. A.,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Alshumrani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E. S., Saeed, M. S. B.,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Rawas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G. M.,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Alharthi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N. T.,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Baeshen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M. N., Helmi, N. M.,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Alam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M. Z., &amp; Suhail, M. (2020). Analysis of sugar composition and pesticides using HPLC and GC–MS techniques in honey samples collected from Saudi Arabian markets.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Saudi Journal of Biological Sciences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27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(12), 3720–3726. https://doi.org/10.1016/j.sjbs.2020.08.018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Aono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Y.,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Asikin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Y., Wang, N., Tieman, D., Klee, H., &amp;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Kusano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M. (2021). High-Throughput Chlorophyll and Carotenoid Profiling Reveals Positive Associations with Sugar and Apocarotenoid Volatile Content in Fruits of Tomato Varieties in Modern and Wild Accessions. </a:t>
            </a:r>
            <a:r>
              <a:rPr lang="es-PE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Metabolites</a:t>
            </a:r>
            <a:r>
              <a:rPr lang="es-P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s-PE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</a:t>
            </a:r>
            <a:r>
              <a:rPr lang="es-P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(6), </a:t>
            </a:r>
            <a:r>
              <a:rPr lang="es-PE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Article</a:t>
            </a:r>
            <a:r>
              <a:rPr lang="es-P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6. </a:t>
            </a:r>
            <a:r>
              <a:rPr lang="es-P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https://doi.org/10.3390/metabo11060398</a:t>
            </a:r>
            <a:endParaRPr lang="es-PE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Balcázar-Zumaeta, C. R., Fernández-Romero, E., </a:t>
            </a:r>
            <a:r>
              <a:rPr lang="es-PE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Lopes</a:t>
            </a:r>
            <a:r>
              <a:rPr lang="es-P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A. S., Ferreira, N. R., Chagas-Júnior, G. C. A., </a:t>
            </a:r>
            <a:r>
              <a:rPr lang="es-PE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Yoplac</a:t>
            </a:r>
            <a:r>
              <a:rPr lang="es-P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I., López-Trigoso, H. A., Tuesta-</a:t>
            </a:r>
            <a:r>
              <a:rPr lang="es-PE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Occ</a:t>
            </a:r>
            <a:r>
              <a:rPr lang="es-P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M. L., Maldonado-</a:t>
            </a:r>
            <a:r>
              <a:rPr lang="es-PE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Ramirez</a:t>
            </a:r>
            <a:r>
              <a:rPr lang="es-PE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I., Maicelo-Quintana, J. L., Cayo-Colca, I. S., &amp; Castro-Alayo, E. M. (2024).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Amino acid profile behavior during the fermentation of Criollo cocoa beans.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Food Chemistry: X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22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101486. https://doi.org/10.1016/j.fochx.2024.101486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Bradford, M. M. (1976). A rapid and sensitive method for the quantitation of microgram quantities of protein utilizing the principle of protein-dye binding.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Analytical Biochemistry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72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(1–2), 248–254. https://doi.org/10.1016/0003-2697(76)90527-3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9BBB45E-2153-40A8-8E4F-12028819EF36}"/>
              </a:ext>
            </a:extLst>
          </p:cNvPr>
          <p:cNvGrpSpPr/>
          <p:nvPr/>
        </p:nvGrpSpPr>
        <p:grpSpPr>
          <a:xfrm>
            <a:off x="0" y="6425184"/>
            <a:ext cx="12192000" cy="432816"/>
            <a:chOff x="0" y="6425184"/>
            <a:chExt cx="12192000" cy="432816"/>
          </a:xfrm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C2348067-15EA-456C-8000-55BECE969329}"/>
                </a:ext>
              </a:extLst>
            </p:cNvPr>
            <p:cNvGrpSpPr/>
            <p:nvPr/>
          </p:nvGrpSpPr>
          <p:grpSpPr>
            <a:xfrm>
              <a:off x="0" y="6425184"/>
              <a:ext cx="12192000" cy="432816"/>
              <a:chOff x="0" y="6425184"/>
              <a:chExt cx="12192000" cy="432816"/>
            </a:xfrm>
          </p:grpSpPr>
          <p:pic>
            <p:nvPicPr>
              <p:cNvPr id="11" name="Imagen 10">
                <a:extLst>
                  <a:ext uri="{FF2B5EF4-FFF2-40B4-BE49-F238E27FC236}">
                    <a16:creationId xmlns:a16="http://schemas.microsoft.com/office/drawing/2014/main" id="{27F731A5-2E7E-42A1-9647-C6A3BB41AF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6425184"/>
                <a:ext cx="12192000" cy="432816"/>
              </a:xfrm>
              <a:prstGeom prst="rect">
                <a:avLst/>
              </a:prstGeom>
            </p:spPr>
          </p:pic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DCA96697-EF04-45D8-8F5B-2B3A4F9CBF47}"/>
                  </a:ext>
                </a:extLst>
              </p:cNvPr>
              <p:cNvSpPr txBox="1"/>
              <p:nvPr/>
            </p:nvSpPr>
            <p:spPr>
              <a:xfrm>
                <a:off x="11688416" y="6472315"/>
                <a:ext cx="5035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400" b="1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12</a:t>
                </a:r>
                <a:endParaRPr lang="es-PE" sz="1400" b="1" dirty="0">
                  <a:solidFill>
                    <a:schemeClr val="bg1"/>
                  </a:solidFill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4F39880B-FA6F-4B07-9EA2-818F985CC7C6}"/>
                </a:ext>
              </a:extLst>
            </p:cNvPr>
            <p:cNvSpPr/>
            <p:nvPr/>
          </p:nvSpPr>
          <p:spPr>
            <a:xfrm>
              <a:off x="1178884" y="6517201"/>
              <a:ext cx="89855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MX" sz="14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TÉSIS 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546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79"/>
    </mc:Choice>
    <mc:Fallback xmlns="">
      <p:transition spd="slow" advTm="497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Dar las gracias, ¿cómo enseñar a los niños?">
            <a:extLst>
              <a:ext uri="{FF2B5EF4-FFF2-40B4-BE49-F238E27FC236}">
                <a16:creationId xmlns:a16="http://schemas.microsoft.com/office/drawing/2014/main" id="{EC154BB5-366E-F819-34B1-3B9FB5C89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7296" y="2871099"/>
            <a:ext cx="8927738" cy="358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/>
          <p:cNvSpPr txBox="1"/>
          <p:nvPr/>
        </p:nvSpPr>
        <p:spPr>
          <a:xfrm>
            <a:off x="5512904" y="6457667"/>
            <a:ext cx="1060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bg1"/>
                </a:solidFill>
                <a:latin typeface="Georgia" panose="02040502050405020303" pitchFamily="18" charset="0"/>
              </a:rPr>
              <a:t>21</a:t>
            </a:r>
            <a:endParaRPr lang="es-PE" b="1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0" y="6425925"/>
            <a:ext cx="12192000" cy="432816"/>
            <a:chOff x="0" y="6425184"/>
            <a:chExt cx="12192000" cy="432816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997518A5-3297-4B80-A555-4C1C69FA9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6425184"/>
              <a:ext cx="12192000" cy="432816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11688416" y="6472315"/>
              <a:ext cx="5035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13</a:t>
              </a:r>
              <a:endParaRPr lang="es-PE" sz="1600" b="1" dirty="0">
                <a:solidFill>
                  <a:schemeClr val="bg1"/>
                </a:solidFill>
                <a:latin typeface="Georgia" panose="02040502050405020303" pitchFamily="18" charset="0"/>
              </a:endParaRPr>
            </a:p>
          </p:txBody>
        </p:sp>
      </p:grpSp>
      <p:pic>
        <p:nvPicPr>
          <p:cNvPr id="10" name="Picture 2" descr="No hay ninguna descripción de la foto disponible.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64" t="2287" r="16126" b="39775"/>
          <a:stretch/>
        </p:blipFill>
        <p:spPr bwMode="auto">
          <a:xfrm>
            <a:off x="469598" y="39440"/>
            <a:ext cx="2048315" cy="1729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Logotipo - UNTRM">
            <a:extLst>
              <a:ext uri="{FF2B5EF4-FFF2-40B4-BE49-F238E27FC236}">
                <a16:creationId xmlns:a16="http://schemas.microsoft.com/office/drawing/2014/main" id="{337FACEE-9E5A-3BF7-0505-A295A8628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007" y="51651"/>
            <a:ext cx="5792316" cy="170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 12" descr="Escuela Profesional de Ingeniería Agrónoma - UNTRM - YouTube"/>
          <p:cNvPicPr/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4417" y="74669"/>
            <a:ext cx="1623929" cy="161574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BF482DF9-E620-4408-95E0-A769E01B4FC6}"/>
              </a:ext>
            </a:extLst>
          </p:cNvPr>
          <p:cNvSpPr/>
          <p:nvPr/>
        </p:nvSpPr>
        <p:spPr>
          <a:xfrm>
            <a:off x="1178884" y="6517201"/>
            <a:ext cx="898553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050" b="1" dirty="0">
                <a:solidFill>
                  <a:schemeClr val="bg1"/>
                </a:solidFill>
                <a:latin typeface="Georgia" panose="02040502050405020303" pitchFamily="18" charset="0"/>
              </a:rPr>
              <a:t>TÉSIS I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6BEF7371-8EC2-44E8-A944-710915A20A9A}"/>
                  </a:ext>
                </a:extLst>
              </p14:cNvPr>
              <p14:cNvContentPartPr/>
              <p14:nvPr/>
            </p14:nvContentPartPr>
            <p14:xfrm>
              <a:off x="11144160" y="419760"/>
              <a:ext cx="360" cy="36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6BEF7371-8EC2-44E8-A944-710915A20A9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134800" y="4104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93517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857">
        <p:split orient="vert"/>
      </p:transition>
    </mc:Choice>
    <mc:Fallback xmlns="">
      <p:transition spd="slow" advTm="3857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3434</TotalTime>
  <Words>1589</Words>
  <Application>Microsoft Office PowerPoint</Application>
  <PresentationFormat>Panorámica</PresentationFormat>
  <Paragraphs>183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3" baseType="lpstr">
      <vt:lpstr>Arial</vt:lpstr>
      <vt:lpstr>Calibri</vt:lpstr>
      <vt:lpstr>Calibri Light</vt:lpstr>
      <vt:lpstr>Fira Sans Extra Condensed Medium</vt:lpstr>
      <vt:lpstr>Georgia</vt:lpstr>
      <vt:lpstr>Roboto</vt:lpstr>
      <vt:lpstr>Symbol</vt:lpstr>
      <vt:lpstr>Times New Roman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JHODANY</dc:creator>
  <cp:lastModifiedBy>ERIKA LLAJA</cp:lastModifiedBy>
  <cp:revision>100</cp:revision>
  <dcterms:created xsi:type="dcterms:W3CDTF">2024-05-08T01:50:30Z</dcterms:created>
  <dcterms:modified xsi:type="dcterms:W3CDTF">2025-07-15T18:48:50Z</dcterms:modified>
</cp:coreProperties>
</file>